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070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5669280" cy="82296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1170432"/>
            <a:ext cx="3474720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1179576"/>
            <a:ext cx="3182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DATA ANALYTICS PROJECT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160020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708096"/>
                </a:solidFill>
              </a:rPr>
              <a:t>ElectViz: Election Data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6329" y="2208494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0070C0"/>
                </a:solidFill>
              </a:rPr>
              <a:t>Visualization for Media</a:t>
            </a:r>
            <a:endParaRPr sz="4400" b="1" i="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" y="3182112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B0C8E0"/>
                </a:solidFill>
                <a:latin typeface="Calibri"/>
              </a:rPr>
              <a:t> </a:t>
            </a:r>
            <a:endParaRPr sz="2800" b="0" i="0" dirty="0">
              <a:solidFill>
                <a:srgbClr val="B0C8E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986784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AA"/>
                </a:solidFill>
                <a:latin typeface="Calibri"/>
              </a:rPr>
              <a:t>Power BI Analytics  ·  Lok Sabha · Vidhan Sabha · Bypoll  ·  1951–2025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234440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234440"/>
            <a:ext cx="82296" cy="1234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77CC"/>
                </a:solidFill>
                <a:latin typeface="Calibri"/>
              </a:rP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1947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AA"/>
                </a:solidFill>
                <a:latin typeface="Calibri"/>
              </a:rPr>
              <a:t>States &amp; UTs Covered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624328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2624328"/>
            <a:ext cx="82296" cy="1234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27157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39C12"/>
                </a:solidFill>
                <a:latin typeface="Calibri"/>
              </a:rPr>
              <a:t>27,415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AA"/>
                </a:solidFill>
                <a:latin typeface="Calibri"/>
              </a:rPr>
              <a:t>Election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4014216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4014216"/>
            <a:ext cx="82296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727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AA"/>
                </a:solidFill>
                <a:latin typeface="Calibri"/>
              </a:rPr>
              <a:t>Year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78815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Hamiz 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K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Karishma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Vennela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P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Aman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Gajavadan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 T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148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1148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0F1AD-BFCA-94CB-B5E6-94053D6F492E}"/>
              </a:ext>
            </a:extLst>
          </p:cNvPr>
          <p:cNvSpPr txBox="1"/>
          <p:nvPr/>
        </p:nvSpPr>
        <p:spPr>
          <a:xfrm>
            <a:off x="626093" y="164588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" y="12192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Why does the </a:t>
            </a:r>
            <a:r>
              <a:rPr lang="en-IN" sz="1100" b="0" i="0" dirty="0">
                <a:solidFill>
                  <a:srgbClr val="B0C4DE"/>
                </a:solidFill>
                <a:latin typeface="Calibri"/>
              </a:rPr>
              <a:t>dataset</a:t>
            </a:r>
            <a:r>
              <a:rPr sz="1100" b="0" i="0" dirty="0">
                <a:solidFill>
                  <a:srgbClr val="B0C4DE"/>
                </a:solidFill>
                <a:latin typeface="Calibri"/>
              </a:rPr>
              <a:t> need a unified election analytics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97542" y="137160"/>
            <a:ext cx="1404257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2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Fragmented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Data spread across 36+ portals, formats, and state archives with no unified access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6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Column names, encodings, and abbreviations differ drastically across elections and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Not Newsroom-Ready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Raw CSVs cannot support live broadcast use, real-time filtering, or anchor-friendly 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8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No Unified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A2230"/>
                </a:solidFill>
                <a:latin typeface="Calibri"/>
              </a:rPr>
              <a:t>Cross-analysis of L</a:t>
            </a:r>
            <a:r>
              <a:rPr lang="en-IN" sz="1150" b="0" i="0" dirty="0">
                <a:solidFill>
                  <a:srgbClr val="1A2230"/>
                </a:solidFill>
                <a:latin typeface="Calibri"/>
              </a:rPr>
              <a:t>ok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15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 + V</a:t>
            </a:r>
            <a:r>
              <a:rPr lang="en-IN" sz="1150" b="0" i="0" dirty="0" err="1">
                <a:solidFill>
                  <a:srgbClr val="1A2230"/>
                </a:solidFill>
                <a:latin typeface="Calibri"/>
              </a:rPr>
              <a:t>idhan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15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 + </a:t>
            </a:r>
            <a:r>
              <a:rPr sz="115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150" b="0" i="0" dirty="0">
                <a:solidFill>
                  <a:srgbClr val="1A2230"/>
                </a:solidFill>
                <a:latin typeface="Calibri"/>
              </a:rPr>
              <a:t> is impossible without consolidation into one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Build a unified election analytics system that enables fast, accurate insights for media teams — covering all 36 states, all election types, 1951 to 2025.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77CC"/>
                </a:solidFill>
                <a:latin typeface="Calibri"/>
              </a:rPr>
              <a:t>Raw election data → Broken.  We turned it into a unified analytics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BE514-3BD4-F1B7-C69B-03B169115C77}"/>
              </a:ext>
            </a:extLst>
          </p:cNvPr>
          <p:cNvSpPr txBox="1"/>
          <p:nvPr/>
        </p:nvSpPr>
        <p:spPr>
          <a:xfrm>
            <a:off x="13230827" y="196622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End-to-end scope of what this project delivers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23370" y="137160"/>
            <a:ext cx="1578429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3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Combine election datasets for 36 States + UTs into one master model with standardised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2968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Multi-Type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Integrate Lok Sabha + Vidhan Sabha + Bypoll elections into a single unified pipeline.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34456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Build 5 interactive, filterable dashboard pages for full election coverage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95944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95944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Analyse party trends, turnout, demographics across all elections from 1951 to 2025.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57432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7432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Real-Time Simulation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85448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Support live-style result updates — enabling news anchors to query live during broadcast.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Unified 36-state cleaned dataset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5 interactive pages, full drill-down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16-slide trial + final versions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99064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99064" y="5669280"/>
            <a:ext cx="64008" cy="1783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963656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Calibri"/>
              </a:rPr>
              <a:t>GitHub Repository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63656" y="6089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All scripts, data, docs committed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275C1-E8A4-B0E7-0E3B-891A7E202D93}"/>
              </a:ext>
            </a:extLst>
          </p:cNvPr>
          <p:cNvSpPr txBox="1"/>
          <p:nvPr/>
        </p:nvSpPr>
        <p:spPr>
          <a:xfrm>
            <a:off x="13185107" y="187801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Modules Overview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5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Each milestone maps to an interactive Power BI dashboard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12486" y="137160"/>
            <a:ext cx="1589314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4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1234440"/>
            <a:ext cx="2633472" cy="640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Data Integration
&amp;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Merge + clean 36-state master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63824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Historical Trends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Year-wise trends, seat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25312" y="1234440"/>
            <a:ext cx="263347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Real-Time Results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Live-style tally, swing seat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🔧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0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Turnout &amp;
Demographics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Gender, category, urban/rural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29416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48288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48288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58016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Party &amp; Candidate
Performance Tracker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58016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Margins, dominance, re-elections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06663-BFA4-3B76-CC83-F76FD53D8CD2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Merging, cleaning, and standardising 36 state datasets into one master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0" y="137160"/>
            <a:ext cx="150876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5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25 of 36 states merged  ·  13 by Hamiz, 10 by Karishma, 2 by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408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231136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LS + VS + Bypoll integration started — all three types in one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9077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98064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200+ party abbreviations expanded to full standardised names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364992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GitHub repository created with per-member contribution folders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Master CSV: 27,415 records · 14 standard columns · ready for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131673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77CC"/>
                </a:solidFill>
                <a:latin typeface="Calibri"/>
              </a:rPr>
              <a:t>27,415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Total Records in Master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61904" y="131673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77CC"/>
                </a:solidFill>
                <a:latin typeface="Calibri"/>
              </a:rPr>
              <a:t>21 / 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States Merged (Phase 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6BBF"/>
                </a:solidFill>
                <a:latin typeface="Calibri"/>
              </a:rPr>
              <a:t>346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Bypoll Records Integrated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6190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6BBF"/>
                </a:solidFill>
                <a:latin typeface="Calibri"/>
              </a:rPr>
              <a:t>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Unique Party Codes Standardised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Year 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51560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6190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Types Covered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059936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CC"/>
                </a:solidFill>
                <a:latin typeface="Calibri"/>
              </a:rPr>
              <a:t>⏭  Next Steps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54456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39712" y="4434840"/>
            <a:ext cx="7242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Merge remaining 15 states (Assam, UP, Haryana, HP, Karnataka…)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509320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39712" y="4983480"/>
            <a:ext cx="7242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Build Power BI star-schema — fact + dimension relationships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564184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39712" y="5532120"/>
            <a:ext cx="72420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Add complete bypoll datasets for all 36 states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030200" y="195591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Historical Trends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Year-wise election trends · Party seat performance · Constituency result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90714" y="126274"/>
            <a:ext cx="1446494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6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Year-wise election trends from 1951 to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Party-wise seat performance over every decade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Constituency result patterns with drill-down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Interactive YEAR slicer and STATE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trend line chart across elections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 comparison: Lok Sabha vs Vidhan Sabha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Historical Trends Dashboard  ·  Party Performance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1691640"/>
            <a:ext cx="1051560" cy="4956048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1746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002536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350008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73752" y="2386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69748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73752" y="2734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044952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30815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1984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392424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73752" y="34290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9896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73752" y="37764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087368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1239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43484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73752" y="44714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782312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73752" y="48188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5129784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73752" y="51663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1709928"/>
            <a:ext cx="8092440" cy="32004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1764792"/>
            <a:ext cx="9418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 WINS — TOP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4237208" y="200253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8" y="234269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73568" y="2342692"/>
            <a:ext cx="3098094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117382" y="22951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8" y="2635300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73568" y="2635300"/>
            <a:ext cx="921357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0645" y="25877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73568" y="2927908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73568" y="2927908"/>
            <a:ext cx="900248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19536" y="288036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3568" y="3220516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42632" y="31729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73568" y="351312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73568" y="380573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1888" y="5001768"/>
            <a:ext cx="8092440" cy="157276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505663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WINNING VOTE TRENDS ACROSS ELECTIONS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helps anchors analyse historical swing seats and track how dominant parties rose or fell across decades.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16213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Real-Time Results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Live-style seat tally · Vote % bars · Party filters · Swing seat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7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Prototype 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Live-style seat count updates as results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percentage bars per constituency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 and candidate filter slicers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Swing seat identification (close margins highlighted)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Colour-coded leading / trailing party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State-level tally card — instant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64608" y="3840480"/>
            <a:ext cx="9198864" cy="276148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lets anchors stream live constituency results, spotlight swing seats, and filter by party or state on air.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97A17-790B-0E2C-642E-D3CBF8282605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Turnout &amp;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Gender · Category · State turnout · Urban vs Rural classification (in progress)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8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3969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Category split: General 74% · ST 15% · SC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3347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average voter turnout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2724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constituencies by turnout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2102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Decade-wise participation trend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416052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98348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Urban vs Rural tagging using Census 2011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48640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Cross-filter with party performance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1709928"/>
            <a:ext cx="274320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6207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3566160"/>
            <a:ext cx="9198864" cy="303580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reveals which states and constituencies have the lowest turnout — critical for newsroom-produced voter engagement stories.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0950D-7D34-0559-51A0-B3338F8B6F6E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5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Party &amp; Candidate Performance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State dominance · Win margins · Candidate re-elections · Alliance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800" dirty="0">
                <a:solidFill>
                  <a:srgbClr val="708096"/>
                </a:solidFill>
                <a:latin typeface="Calibri"/>
              </a:rPr>
              <a:t>9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0896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1A44"/>
                </a:solidFill>
                <a:latin typeface="Calibri"/>
              </a:rPr>
              <a:t>  This page shows which parties dominate which states and which candidates attract the most votes </a:t>
            </a:r>
            <a:r>
              <a:rPr lang="en-IN" sz="1100" b="0" i="0" dirty="0">
                <a:solidFill>
                  <a:srgbClr val="0A1A44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A1A44"/>
                </a:solidFill>
                <a:latin typeface="Calibri"/>
              </a:rPr>
              <a:t> perfect for election night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C0E29-8087-F59F-EB2C-F00A5AB19E44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Urban vs Rural Constituency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Census 2011 Urban-Rural Population Table · Metro, Semi-urban, Village seat tagging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708096"/>
                </a:solidFill>
                <a:latin typeface="Calibri"/>
              </a:rPr>
              <a:t>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0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13716000" cy="566928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82296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335024"/>
            <a:ext cx="1335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Method: Map each constituency's district to Census 2011 U-R population ratio  ·  Urban ≥60%  ·  Rural &lt;30%  ·  Semi-Urban in between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437083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Urban Constituencies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≥60% urban population
Covers: Delhi, Mumbai, Hyderabad, Bengaluru,
Kolkata, Chennai and metro areas
Higher turnout · Multi-party competition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0912" y="1938528"/>
            <a:ext cx="4370832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BBF"/>
                </a:solidFill>
                <a:latin typeface="Calibri"/>
              </a:rPr>
              <a:t>Semi-Urban Constituencies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30–60% urban population
Mainly tier-2 cities and district HQs
Classic swing seats — competitive across parties
Often decide state-level majorities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64624" y="1938528"/>
            <a:ext cx="437083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Rural Constituencies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&lt;30% urban population
Village-dominant, common in SC/ST reserved seats
Strong regional and single-party dominance
Lower turnout variation year on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3716000" cy="2212848"/>
          </a:xfrm>
          <a:prstGeom prst="rect">
            <a:avLst/>
          </a:prstGeom>
          <a:solidFill>
            <a:srgbClr val="F0F4F8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82296" cy="22128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422392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44"/>
                </a:solidFill>
                <a:latin typeface="Calibri"/>
              </a:rPr>
              <a:t>Real Examples from Census 2011: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64008" cy="14813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CC"/>
                </a:solidFill>
                <a:latin typeface="Calibri"/>
              </a:rPr>
              <a:t>Delhi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97.5% urban urban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All 70 Vidhan Sabha constituencies tagged URBAN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2080" y="5806440"/>
            <a:ext cx="64008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76672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Bihar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11.3% urban urban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Majority constituencies tagged RURAL-dominant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65792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65792" y="5806440"/>
            <a:ext cx="64008" cy="148132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BBF"/>
                </a:solidFill>
                <a:latin typeface="Calibri"/>
              </a:rPr>
              <a:t>Maharashtra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45.2% urban urban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0384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Mix of Urban (Mumbai) + Rural (Vidarbha) + Semi-Urban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5AB2E-8F9E-B1E9-071A-5BBC02DD179C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708096"/>
                </a:solidFill>
                <a:latin typeface="Calibri"/>
              </a:rPr>
              <a:t>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1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Hamiz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Team Lead</a:t>
            </a:r>
            <a:r>
              <a:rPr lang="en-IN" sz="900" b="1" i="0" dirty="0">
                <a:solidFill>
                  <a:srgbClr val="FFFFFF"/>
                </a:solidFill>
                <a:latin typeface="Calibri"/>
              </a:rPr>
              <a:t> &amp; 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3026664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merged, dataset validated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GitHub setup +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904488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Power BI dashboard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343400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PPT + final report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Karishma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10 states 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VS completed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3465576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LS collection 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2696" y="3904488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data cleaning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2696" y="4343400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Column mapping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Vennela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81344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65576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81344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VS + LS data collection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904488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for assigned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343400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81344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State-level QC 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Aman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3465576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33688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Data formatting + cleaning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87384" y="3904488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33688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data mapping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87384" y="4343400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33688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Validation reports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Gajavadan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i="0" dirty="0">
                <a:solidFill>
                  <a:srgbClr val="FFFFFF"/>
                </a:solidFill>
                <a:latin typeface="Calibri"/>
              </a:rPr>
              <a:t>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5 states assigned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39728" y="3465576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686032" y="3392424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Data formatting + cleaning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39728" y="3904488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686032" y="3831336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 err="1">
                <a:solidFill>
                  <a:srgbClr val="1A2230"/>
                </a:solidFill>
              </a:rPr>
              <a:t>Bypoll</a:t>
            </a:r>
            <a:r>
              <a:rPr lang="en-IN" sz="1000" dirty="0">
                <a:solidFill>
                  <a:srgbClr val="1A2230"/>
                </a:solidFill>
              </a:rPr>
              <a:t> data mapping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39728" y="4343400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686032" y="4270248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Validation reports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A1E36-3653-0982-EEA7-C4FFAE23FFD4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849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708096"/>
                </a:solidFill>
                <a:latin typeface="Calibri"/>
              </a:rPr>
              <a:t>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2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728216"/>
            <a:ext cx="4754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39C12"/>
                </a:solidFill>
                <a:latin typeface="Calibri"/>
              </a:rPr>
              <a:t> BIGGEST PAIN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Missing Lok Sabha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3134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7 states had no LS files in initial data package.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764792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Marked for Phase 2 sourcing from ECI portal; removed from demo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Data Format Inconsistencies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59359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 source files had different column names and encodings.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24612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Built global column mapping + 200+ party abbreviation dictionary applied across all files.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Bypoll Dataset Delays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Bypoll files stored separately; not integrated initially.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4727448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Created dedicated Bypoll CSV pipeline — 346 records now validated and integrated.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3C725-F69D-DE71-825B-2372D06C1047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E6B5-E155-0C36-20DA-5C01A9BE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603351-B2F9-FFB1-CEA6-1ED4656C9992}"/>
              </a:ext>
            </a:extLst>
          </p:cNvPr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262DE-F018-52C6-987B-636E0831AC39}"/>
              </a:ext>
            </a:extLst>
          </p:cNvPr>
          <p:cNvSpPr txBox="1"/>
          <p:nvPr/>
        </p:nvSpPr>
        <p:spPr>
          <a:xfrm>
            <a:off x="274320" y="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Demo Dashboard (Prototype with 21 States Completed)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7E8E32B-2251-9D29-9493-B7445C1FAF3A}"/>
              </a:ext>
            </a:extLst>
          </p:cNvPr>
          <p:cNvSpPr txBox="1"/>
          <p:nvPr/>
        </p:nvSpPr>
        <p:spPr>
          <a:xfrm>
            <a:off x="274320" y="4572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India Election Analytics  ·  Lok Sabha  ·  Vidhan Sabha  ·  1951–2025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7F9855D-ABF5-D40D-1649-EC46117A79E4}"/>
              </a:ext>
            </a:extLst>
          </p:cNvPr>
          <p:cNvSpPr/>
          <p:nvPr/>
        </p:nvSpPr>
        <p:spPr>
          <a:xfrm>
            <a:off x="13088825" y="66526"/>
            <a:ext cx="1358240" cy="6321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F1B4FDF-8103-B459-1505-0146D341A21A}"/>
              </a:ext>
            </a:extLst>
          </p:cNvPr>
          <p:cNvSpPr/>
          <p:nvPr/>
        </p:nvSpPr>
        <p:spPr>
          <a:xfrm>
            <a:off x="0" y="769838"/>
            <a:ext cx="146304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5E6F4-782A-D263-7ACA-1F222585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815"/>
            <a:ext cx="14630400" cy="7444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33D2BB-1981-9A96-27C3-5BE22A500FCD}"/>
              </a:ext>
            </a:extLst>
          </p:cNvPr>
          <p:cNvSpPr txBox="1"/>
          <p:nvPr/>
        </p:nvSpPr>
        <p:spPr>
          <a:xfrm>
            <a:off x="13308508" y="90299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  <p:extLst>
      <p:ext uri="{BB962C8B-B14F-4D97-AF65-F5344CB8AC3E}">
        <p14:creationId xmlns:p14="http://schemas.microsoft.com/office/powerpoint/2010/main" val="409763900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Roadmap before final evaluation — 5 steps to completion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50654" y="137160"/>
            <a:ext cx="1651146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27575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708096"/>
                </a:solidFill>
                <a:latin typeface="Calibri"/>
              </a:rPr>
              <a:t>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4</a:t>
            </a:r>
            <a:r>
              <a:rPr sz="800" b="0" i="0" dirty="0">
                <a:solidFill>
                  <a:srgbClr val="708096"/>
                </a:solidFill>
                <a:latin typeface="Calibri"/>
              </a:rPr>
              <a:t>/1</a:t>
            </a:r>
            <a:r>
              <a:rPr lang="en-IN" sz="800" b="0" i="0" dirty="0">
                <a:solidFill>
                  <a:srgbClr val="708096"/>
                </a:solidFill>
                <a:latin typeface="Calibri"/>
              </a:rPr>
              <a:t>5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809744"/>
            <a:ext cx="13533120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4352544"/>
            <a:ext cx="73152" cy="4572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261872"/>
            <a:ext cx="256032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37160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Merge Remaining
15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95681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Assam, UP, Haryana, HP,
Karnataka, Kerala, Punjab…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05072"/>
            <a:ext cx="2340864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0050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👤  Hamiz +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96512" y="4974336"/>
            <a:ext cx="73152" cy="12801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0" y="5102352"/>
            <a:ext cx="2560320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0208" y="521208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Complete Bypoll
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579729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36-state bypoll data
cleaned and merged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8" y="7072666"/>
            <a:ext cx="2340864" cy="2926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50207" y="7103554"/>
            <a:ext cx="23408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👤  Karishma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1753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79792" y="4352544"/>
            <a:ext cx="7315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23760" y="1261872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33488" y="137160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Build Star-Schema
Data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195681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Power BI fact + dimension
relationships finalised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3488" y="4005072"/>
            <a:ext cx="2340864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33488" y="40050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👤  Hamiz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0081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63072" y="4974336"/>
            <a:ext cx="73152" cy="12801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60704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607040" y="5102352"/>
            <a:ext cx="25603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16768" y="521208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All 5 Dashboard
Pages 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6768" y="579729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Full 36-state data
across every page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27654" y="7040008"/>
            <a:ext cx="2340864" cy="2926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93838" y="7070870"/>
            <a:ext cx="19568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👤  Full Team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081581" y="4352544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987348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987348" y="1261872"/>
            <a:ext cx="25603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097076" y="1371600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1A44"/>
                </a:solidFill>
                <a:latin typeface="Calibri"/>
              </a:rPr>
              <a:t>End-to-End Test
&amp; Delivery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97076" y="1956816"/>
            <a:ext cx="23408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2230"/>
                </a:solidFill>
                <a:latin typeface="Calibri"/>
              </a:rPr>
              <a:t>Test all filters, drill-downs;
deliver final PPT+PBIX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086186" y="4005072"/>
            <a:ext cx="2340864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097076" y="4005072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👤  Hamiz+Karishma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E61A33-54BB-813F-5469-4BEB07090A77}"/>
              </a:ext>
            </a:extLst>
          </p:cNvPr>
          <p:cNvSpPr txBox="1"/>
          <p:nvPr/>
        </p:nvSpPr>
        <p:spPr>
          <a:xfrm>
            <a:off x="13088825" y="175474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077CC"/>
                </a:solidFill>
                <a:latin typeface="Calibri"/>
              </a:rPr>
              <a:t> K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68128" y="207568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Team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Karishma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82549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Calibri"/>
              </a:rPr>
              <a:t>Vennela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8" y="357530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Aman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8128" y="4325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Gajavadan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8128" y="50749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Member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📁  Master Dataset (36 States)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0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📊  Power BI Dashboard (5 Pages)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9792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71232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📄  Final PPT Report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🗂️  GitHub Repository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2585926" y="160020"/>
            <a:ext cx="1645920" cy="658368"/>
          </a:xfrm>
          <a:prstGeom prst="rect">
            <a:avLst/>
          </a:prstGeom>
          <a:solidFill>
            <a:srgbClr val="001A4E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56716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56716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8CFC1-FA20-F6B5-9520-11FDA4B1285E}"/>
              </a:ext>
            </a:extLst>
          </p:cNvPr>
          <p:cNvSpPr txBox="1"/>
          <p:nvPr/>
        </p:nvSpPr>
        <p:spPr>
          <a:xfrm>
            <a:off x="12966192" y="167152"/>
            <a:ext cx="9423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200" b="0" dirty="0">
                <a:solidFill>
                  <a:schemeClr val="accent6"/>
                </a:solidFill>
                <a:latin typeface="Calibri"/>
              </a:rPr>
              <a:t>Springboard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1965</Words>
  <Application>Microsoft Office PowerPoint</Application>
  <PresentationFormat>Custom</PresentationFormat>
  <Paragraphs>468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K</cp:lastModifiedBy>
  <cp:revision>12</cp:revision>
  <dcterms:created xsi:type="dcterms:W3CDTF">2013-01-27T09:14:16Z</dcterms:created>
  <dcterms:modified xsi:type="dcterms:W3CDTF">2026-02-25T14:07:58Z</dcterms:modified>
  <cp:category/>
</cp:coreProperties>
</file>