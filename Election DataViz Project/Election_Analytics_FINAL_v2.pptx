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20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4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778240" cy="8229600"/>
          </a:xfrm>
          <a:prstGeom prst="rect">
            <a:avLst/>
          </a:prstGeom>
          <a:solidFill>
            <a:srgbClr val="08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6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54864" cy="822960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321040" y="0"/>
            <a:ext cx="54864" cy="8229600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12480" y="0"/>
            <a:ext cx="54864" cy="8229600"/>
          </a:xfrm>
          <a:prstGeom prst="rect">
            <a:avLst/>
          </a:prstGeom>
          <a:solidFill>
            <a:srgbClr val="0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03920" y="0"/>
            <a:ext cx="54864" cy="82296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95360" y="0"/>
            <a:ext cx="54864" cy="8229600"/>
          </a:xfrm>
          <a:prstGeom prst="rect">
            <a:avLst/>
          </a:prstGeom>
          <a:solidFill>
            <a:srgbClr val="003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0" y="0"/>
            <a:ext cx="54864" cy="8229600"/>
          </a:xfrm>
          <a:prstGeom prst="rect">
            <a:avLst/>
          </a:prstGeom>
          <a:solidFill>
            <a:srgbClr val="003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778240" y="0"/>
            <a:ext cx="54864" cy="8229600"/>
          </a:xfrm>
          <a:prstGeom prst="rect">
            <a:avLst/>
          </a:prstGeom>
          <a:solidFill>
            <a:srgbClr val="002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69680" y="0"/>
            <a:ext cx="54864" cy="8229600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61120" y="0"/>
            <a:ext cx="5669280" cy="8229600"/>
          </a:xfrm>
          <a:prstGeom prst="rect">
            <a:avLst/>
          </a:prstGeom>
          <a:solidFill>
            <a:srgbClr val="05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-2286000" y="3200400"/>
            <a:ext cx="6400800" cy="6400800"/>
          </a:xfrm>
          <a:prstGeom prst="ellipse">
            <a:avLst/>
          </a:prstGeom>
          <a:solidFill>
            <a:srgbClr val="00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-1645920" y="3840480"/>
            <a:ext cx="5120640" cy="5120640"/>
          </a:xfrm>
          <a:prstGeom prst="ellipse">
            <a:avLst/>
          </a:prstGeom>
          <a:solidFill>
            <a:srgbClr val="0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-1005840" y="4480560"/>
            <a:ext cx="3840480" cy="3840480"/>
          </a:xfrm>
          <a:prstGeom prst="ellipse">
            <a:avLst/>
          </a:prstGeom>
          <a:solidFill>
            <a:srgbClr val="00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2710160" y="320040"/>
            <a:ext cx="475488" cy="475488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3350240" y="685800"/>
            <a:ext cx="292608" cy="292608"/>
          </a:xfrm>
          <a:prstGeom prst="ellipse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2344400" y="749808"/>
            <a:ext cx="201168" cy="201168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807440" y="228600"/>
            <a:ext cx="164592" cy="164592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5488" y="1170432"/>
            <a:ext cx="3474720" cy="29260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064" y="1179576"/>
            <a:ext cx="31821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DATA ANALYTICS PROJECT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160020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i="1" dirty="0">
                <a:solidFill>
                  <a:srgbClr val="708096"/>
                </a:solidFill>
              </a:rPr>
              <a:t>ElectViz: Election Data</a:t>
            </a:r>
            <a:endParaRPr sz="4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6329" y="2208494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i="1" dirty="0">
                <a:solidFill>
                  <a:srgbClr val="0070C0"/>
                </a:solidFill>
              </a:rPr>
              <a:t>Visualization for Media</a:t>
            </a:r>
            <a:endParaRPr sz="4400" b="1" i="0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5488" y="3182112"/>
            <a:ext cx="8046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0" i="0" dirty="0">
                <a:solidFill>
                  <a:srgbClr val="B0C8E0"/>
                </a:solidFill>
                <a:latin typeface="Calibri"/>
              </a:rPr>
              <a:t> </a:t>
            </a:r>
            <a:endParaRPr sz="2800" b="0" i="0" dirty="0">
              <a:solidFill>
                <a:srgbClr val="B0C8E0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75488" y="3840480"/>
            <a:ext cx="438912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956048" y="3840480"/>
            <a:ext cx="3474720" cy="4572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3986784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890AA"/>
                </a:solidFill>
                <a:latin typeface="Calibri"/>
              </a:rPr>
              <a:t>Power BI Analytics  ·  Lok Sabha · Vidhan Sabha · Bypoll  ·  1951–2025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06840" y="1234440"/>
            <a:ext cx="5166360" cy="1234440"/>
          </a:xfrm>
          <a:prstGeom prst="rect">
            <a:avLst/>
          </a:prstGeom>
          <a:solidFill>
            <a:srgbClr val="071226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006840" y="1234440"/>
            <a:ext cx="82296" cy="123444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17152" y="132588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77CC"/>
                </a:solidFill>
                <a:latin typeface="Calibri"/>
              </a:rPr>
              <a:t>36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7152" y="19476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90AA"/>
                </a:solidFill>
                <a:latin typeface="Calibri"/>
              </a:rPr>
              <a:t>States &amp; UTs Covered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6840" y="2624328"/>
            <a:ext cx="5166360" cy="1234440"/>
          </a:xfrm>
          <a:prstGeom prst="rect">
            <a:avLst/>
          </a:prstGeom>
          <a:solidFill>
            <a:srgbClr val="071226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006840" y="2624328"/>
            <a:ext cx="82296" cy="12344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17152" y="271576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39C12"/>
                </a:solidFill>
                <a:latin typeface="Calibri"/>
              </a:rPr>
              <a:t>27,415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7152" y="3337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90AA"/>
                </a:solidFill>
                <a:latin typeface="Calibri"/>
              </a:rPr>
              <a:t>Election Records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6840" y="4014216"/>
            <a:ext cx="5166360" cy="1234440"/>
          </a:xfrm>
          <a:prstGeom prst="rect">
            <a:avLst/>
          </a:prstGeom>
          <a:solidFill>
            <a:srgbClr val="071226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006840" y="4014216"/>
            <a:ext cx="82296" cy="1234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17152" y="4105656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7AE60"/>
                </a:solidFill>
                <a:latin typeface="Calibri"/>
              </a:rPr>
              <a:t>1951–2025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17152" y="47274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90AA"/>
                </a:solidFill>
                <a:latin typeface="Calibri"/>
              </a:rPr>
              <a:t>Year Range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5788152"/>
            <a:ext cx="14630400" cy="2258568"/>
          </a:xfrm>
          <a:prstGeom prst="rect">
            <a:avLst/>
          </a:prstGeom>
          <a:solidFill>
            <a:srgbClr val="05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0" y="5742432"/>
            <a:ext cx="14630400" cy="411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5852160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0077CC"/>
                </a:solidFill>
                <a:latin typeface="Calibri"/>
              </a:rPr>
              <a:t>TEAM MEMBERS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6181344"/>
            <a:ext cx="2542032" cy="3840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20" y="6181344"/>
            <a:ext cx="25420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Hamiz </a:t>
            </a:r>
            <a:r>
              <a:rPr lang="en-IN" sz="1100" b="1" i="0" dirty="0">
                <a:solidFill>
                  <a:srgbClr val="FFFFFF"/>
                </a:solidFill>
                <a:latin typeface="Calibri"/>
              </a:rPr>
              <a:t>K 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(Team Lead)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27832" y="6181344"/>
            <a:ext cx="1389888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227832" y="6181344"/>
            <a:ext cx="13898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Karishma</a:t>
            </a:r>
            <a:r>
              <a:rPr lang="en-IN" sz="1100" b="1" i="0" dirty="0">
                <a:solidFill>
                  <a:srgbClr val="FFFFFF"/>
                </a:solidFill>
                <a:latin typeface="Calibri"/>
              </a:rPr>
              <a:t> N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800600" y="6181344"/>
            <a:ext cx="128016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800600" y="6181344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Vennela</a:t>
            </a:r>
            <a:r>
              <a:rPr lang="en-IN" sz="1100" b="1" i="0" dirty="0">
                <a:solidFill>
                  <a:srgbClr val="FFFFFF"/>
                </a:solidFill>
                <a:latin typeface="Calibri"/>
              </a:rPr>
              <a:t> P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263640" y="6181344"/>
            <a:ext cx="1280160" cy="384048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63640" y="6181344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Aman</a:t>
            </a:r>
            <a:r>
              <a:rPr lang="en-IN" sz="1100" b="1" i="0" dirty="0">
                <a:solidFill>
                  <a:srgbClr val="FFFFFF"/>
                </a:solidFill>
                <a:latin typeface="Calibri"/>
              </a:rPr>
              <a:t> A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726680" y="6181344"/>
            <a:ext cx="1517904" cy="3840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726680" y="6181344"/>
            <a:ext cx="15179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Gajavadan</a:t>
            </a:r>
            <a:r>
              <a:rPr lang="en-IN" sz="1100" b="1" i="0" dirty="0">
                <a:solidFill>
                  <a:srgbClr val="FFFFFF"/>
                </a:solidFill>
                <a:latin typeface="Calibri"/>
              </a:rPr>
              <a:t> T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0424160" y="5897880"/>
            <a:ext cx="3749039" cy="1481328"/>
          </a:xfrm>
          <a:prstGeom prst="rect">
            <a:avLst/>
          </a:prstGeom>
          <a:solidFill>
            <a:srgbClr val="071226"/>
          </a:solidFill>
          <a:ln w="12700">
            <a:solidFill>
              <a:srgbClr val="10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0" y="8138160"/>
            <a:ext cx="14630400" cy="9144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11480" y="182880"/>
            <a:ext cx="64008" cy="65836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11480" y="800100"/>
            <a:ext cx="2880360" cy="411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30F1AD-BFCA-94CB-B5E6-94053D6F492E}"/>
              </a:ext>
            </a:extLst>
          </p:cNvPr>
          <p:cNvSpPr txBox="1"/>
          <p:nvPr/>
        </p:nvSpPr>
        <p:spPr>
          <a:xfrm>
            <a:off x="626093" y="164588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B0C4DE"/>
                </a:solidFill>
                <a:latin typeface="Calibri"/>
              </a:rPr>
              <a:t>Why does the </a:t>
            </a:r>
            <a:r>
              <a:rPr lang="en-IN" sz="1100" b="0" i="0" dirty="0">
                <a:solidFill>
                  <a:srgbClr val="B0C4DE"/>
                </a:solidFill>
                <a:latin typeface="Calibri"/>
              </a:rPr>
              <a:t>dataset</a:t>
            </a:r>
            <a:r>
              <a:rPr sz="1100" b="0" i="0" dirty="0">
                <a:solidFill>
                  <a:srgbClr val="B0C4DE"/>
                </a:solidFill>
                <a:latin typeface="Calibri"/>
              </a:rPr>
              <a:t> need a unified election analytics system?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97542" y="137160"/>
            <a:ext cx="1404257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3/16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13898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230"/>
                </a:solidFill>
                <a:latin typeface="Calibri"/>
              </a:rPr>
              <a:t>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1956816"/>
            <a:ext cx="3035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A44"/>
                </a:solidFill>
                <a:latin typeface="Calibri"/>
              </a:rPr>
              <a:t>Fragmented 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2340864"/>
            <a:ext cx="29626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Data spread across 36+ portals, formats, and state archives with no unified access point.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77056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77056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77056" y="13898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230"/>
                </a:solidFill>
                <a:latin typeface="Calibri"/>
              </a:rPr>
              <a:t>⚠️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5072" y="1956816"/>
            <a:ext cx="3035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A44"/>
                </a:solidFill>
                <a:latin typeface="Calibri"/>
              </a:rPr>
              <a:t>Data Inconsistency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1648" y="2340864"/>
            <a:ext cx="29626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Column names, encodings, and abbreviations differ drastically across elections and years.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96912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96912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96912" y="13898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230"/>
                </a:solidFill>
                <a:latin typeface="Calibri"/>
              </a:rPr>
              <a:t>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8" y="1956816"/>
            <a:ext cx="3035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A44"/>
                </a:solidFill>
                <a:latin typeface="Calibri"/>
              </a:rPr>
              <a:t>Not Newsroom-Ready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2340864"/>
            <a:ext cx="29626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Raw CSVs cannot support live broadcast use, real-time filtering, or anchor-friendly views.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16768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716768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716768" y="13898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230"/>
                </a:solidFill>
                <a:latin typeface="Calibri"/>
              </a:rPr>
              <a:t>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44784" y="1956816"/>
            <a:ext cx="3035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A44"/>
                </a:solidFill>
                <a:latin typeface="Calibri"/>
              </a:rPr>
              <a:t>No Unified 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2340864"/>
            <a:ext cx="296265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1A2230"/>
                </a:solidFill>
                <a:latin typeface="Calibri"/>
              </a:rPr>
              <a:t>Cross-analysis of L</a:t>
            </a:r>
            <a:r>
              <a:rPr lang="en-IN" sz="1150" b="0" i="0" dirty="0">
                <a:solidFill>
                  <a:srgbClr val="1A2230"/>
                </a:solidFill>
                <a:latin typeface="Calibri"/>
              </a:rPr>
              <a:t>ok</a:t>
            </a:r>
            <a:r>
              <a:rPr sz="1150" b="0" i="0" dirty="0">
                <a:solidFill>
                  <a:srgbClr val="1A2230"/>
                </a:solidFill>
                <a:latin typeface="Calibri"/>
              </a:rPr>
              <a:t>S</a:t>
            </a:r>
            <a:r>
              <a:rPr lang="en-IN" sz="1150" b="0" i="0" dirty="0" err="1">
                <a:solidFill>
                  <a:srgbClr val="1A2230"/>
                </a:solidFill>
                <a:latin typeface="Calibri"/>
              </a:rPr>
              <a:t>abha</a:t>
            </a:r>
            <a:r>
              <a:rPr sz="1150" b="0" i="0" dirty="0">
                <a:solidFill>
                  <a:srgbClr val="1A2230"/>
                </a:solidFill>
                <a:latin typeface="Calibri"/>
              </a:rPr>
              <a:t> + V</a:t>
            </a:r>
            <a:r>
              <a:rPr lang="en-IN" sz="1150" b="0" i="0" dirty="0" err="1">
                <a:solidFill>
                  <a:srgbClr val="1A2230"/>
                </a:solidFill>
                <a:latin typeface="Calibri"/>
              </a:rPr>
              <a:t>idhan</a:t>
            </a:r>
            <a:r>
              <a:rPr sz="1150" b="0" i="0" dirty="0">
                <a:solidFill>
                  <a:srgbClr val="1A2230"/>
                </a:solidFill>
                <a:latin typeface="Calibri"/>
              </a:rPr>
              <a:t>S</a:t>
            </a:r>
            <a:r>
              <a:rPr lang="en-IN" sz="1150" b="0" i="0" dirty="0" err="1">
                <a:solidFill>
                  <a:srgbClr val="1A2230"/>
                </a:solidFill>
                <a:latin typeface="Calibri"/>
              </a:rPr>
              <a:t>abha</a:t>
            </a:r>
            <a:r>
              <a:rPr sz="1150" b="0" i="0" dirty="0">
                <a:solidFill>
                  <a:srgbClr val="1A2230"/>
                </a:solidFill>
                <a:latin typeface="Calibri"/>
              </a:rPr>
              <a:t> + </a:t>
            </a:r>
            <a:r>
              <a:rPr sz="1150" b="0" i="0" dirty="0" err="1">
                <a:solidFill>
                  <a:srgbClr val="1A2230"/>
                </a:solidFill>
                <a:latin typeface="Calibri"/>
              </a:rPr>
              <a:t>Bypoll</a:t>
            </a:r>
            <a:r>
              <a:rPr sz="1150" b="0" i="0" dirty="0">
                <a:solidFill>
                  <a:srgbClr val="1A2230"/>
                </a:solidFill>
                <a:latin typeface="Calibri"/>
              </a:rPr>
              <a:t> is impossible without consolidation into one model.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230368"/>
            <a:ext cx="13716000" cy="960120"/>
          </a:xfrm>
          <a:prstGeom prst="rect">
            <a:avLst/>
          </a:prstGeom>
          <a:solidFill>
            <a:srgbClr val="0A1A44"/>
          </a:solidFill>
          <a:ln w="1905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5230368"/>
            <a:ext cx="82296" cy="9601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" y="5321808"/>
            <a:ext cx="1335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7CC"/>
                </a:solidFill>
                <a:latin typeface="Calibri"/>
              </a:rPr>
              <a:t>GOAL:  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Build a unified election analytics system that enables fast, accurate insights for media teams — covering all 36 states, all election types, 1951 to 2025.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355080"/>
            <a:ext cx="1371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0077CC"/>
                </a:solidFill>
                <a:latin typeface="Calibri"/>
              </a:rPr>
              <a:t>Raw election data → Broken.  We turned it into a unified analytics system.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EBE514-3BD4-F1B7-C69B-03B169115C77}"/>
              </a:ext>
            </a:extLst>
          </p:cNvPr>
          <p:cNvSpPr txBox="1"/>
          <p:nvPr/>
        </p:nvSpPr>
        <p:spPr>
          <a:xfrm>
            <a:off x="13230827" y="196622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End-to-end scope of what this project delivers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23370" y="137160"/>
            <a:ext cx="1578429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4/16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1480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1208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Data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" y="2340864"/>
            <a:ext cx="24140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Combine election datasets for 36 States + UTs into one master model with standardised schema.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72968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72968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82696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82696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82696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Multi-Type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00984" y="2340864"/>
            <a:ext cx="24140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Integrate Lok Sabha + Vidhan Sabha + Bypoll elections into a single unified pipeline.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34456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34456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44184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4184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44184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Power BI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2472" y="2340864"/>
            <a:ext cx="24140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Build 5 interactive, filterable dashboard pages for full election coverage analysis.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95944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695944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805672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05672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05672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Trend &amp; Performance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2340864"/>
            <a:ext cx="24140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Analyse party trends, turnout, demographics across all elections from 1951 to 2025.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57432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457432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567160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56716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67160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Real-Time Simulation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85448" y="2340864"/>
            <a:ext cx="24140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Support live-style result updates — enabling news anchors to query live during broadcast.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5230368"/>
            <a:ext cx="13789152" cy="248716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11480" y="5230368"/>
            <a:ext cx="13789152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4360" y="53218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7CC"/>
                </a:solidFill>
                <a:latin typeface="Calibri"/>
              </a:rPr>
              <a:t>Project Deliverables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5669280"/>
            <a:ext cx="3246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94360" y="5669280"/>
            <a:ext cx="64008" cy="178308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58952" y="5742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7CC"/>
                </a:solidFill>
                <a:latin typeface="Calibri"/>
              </a:rPr>
              <a:t>Master Dataset CSV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" y="60899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8096"/>
                </a:solidFill>
                <a:latin typeface="Calibri"/>
              </a:rPr>
              <a:t>Unified 36-state cleaned dataset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95928" y="5669280"/>
            <a:ext cx="3246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995928" y="5669280"/>
            <a:ext cx="64008" cy="1783080"/>
          </a:xfrm>
          <a:prstGeom prst="rect">
            <a:avLst/>
          </a:prstGeom>
          <a:solidFill>
            <a:srgbClr val="277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160520" y="5742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76BF"/>
                </a:solidFill>
                <a:latin typeface="Calibri"/>
              </a:rPr>
              <a:t>Power BI Dashboard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60520" y="60899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8096"/>
                </a:solidFill>
                <a:latin typeface="Calibri"/>
              </a:rPr>
              <a:t>5 interactive pages, full drill-down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97496" y="5669280"/>
            <a:ext cx="3246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397496" y="5669280"/>
            <a:ext cx="64008" cy="1783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62088" y="5742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Final PPT Report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62088" y="60899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8096"/>
                </a:solidFill>
                <a:latin typeface="Calibri"/>
              </a:rPr>
              <a:t>16-slide trial + final versions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799064" y="5669280"/>
            <a:ext cx="3246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0799064" y="5669280"/>
            <a:ext cx="64008" cy="17830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963656" y="5742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E44AD"/>
                </a:solidFill>
                <a:latin typeface="Calibri"/>
              </a:rPr>
              <a:t>GitHub Repository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63656" y="60899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8096"/>
                </a:solidFill>
                <a:latin typeface="Calibri"/>
              </a:rPr>
              <a:t>All scripts, data, docs committed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8275C1-E8A4-B0E7-0E3B-891A7E202D93}"/>
              </a:ext>
            </a:extLst>
          </p:cNvPr>
          <p:cNvSpPr txBox="1"/>
          <p:nvPr/>
        </p:nvSpPr>
        <p:spPr>
          <a:xfrm>
            <a:off x="13185107" y="187801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Modules Overview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5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Each milestone maps to an interactive Power BI dashboard page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12486" y="137160"/>
            <a:ext cx="1589314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5/16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2336" y="1234440"/>
            <a:ext cx="2633472" cy="6400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2064" y="1353312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1956816"/>
            <a:ext cx="2414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44"/>
                </a:solidFill>
                <a:latin typeface="Calibri"/>
              </a:rPr>
              <a:t>Data Integration
&amp; Modeling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2651760"/>
            <a:ext cx="24140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Merge + clean 36-state master dataset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" y="4251960"/>
            <a:ext cx="2414016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064" y="42519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✅ In 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4952" y="30632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CC"/>
                </a:solidFill>
                <a:latin typeface="Calibr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63824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163824" y="1234440"/>
            <a:ext cx="2633472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73552" y="1353312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73552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3552" y="1956816"/>
            <a:ext cx="2414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44"/>
                </a:solidFill>
                <a:latin typeface="Calibri"/>
              </a:rPr>
              <a:t>Historical Trends
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73552" y="2651760"/>
            <a:ext cx="24140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Year-wise trends, seat distribution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73552" y="4251960"/>
            <a:ext cx="2414016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73552" y="42519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✅ Demo 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30632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CC"/>
                </a:solidFill>
                <a:latin typeface="Calibri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25312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25312" y="1234440"/>
            <a:ext cx="2633472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035040" y="1353312"/>
            <a:ext cx="50292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35040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1956816"/>
            <a:ext cx="2414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44"/>
                </a:solidFill>
                <a:latin typeface="Calibri"/>
              </a:rPr>
              <a:t>Real-Time Results
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2651760"/>
            <a:ext cx="24140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Live-style tally, swing seat alerts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4251960"/>
            <a:ext cx="2414016" cy="2926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35040" y="42519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🔧 Prototype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67928" y="30632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CC"/>
                </a:solidFill>
                <a:latin typeface="Calibri"/>
              </a:rPr>
              <a:t>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0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686800" y="1234440"/>
            <a:ext cx="2633472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796528" y="1353312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796528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96528" y="1956816"/>
            <a:ext cx="2414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44"/>
                </a:solidFill>
                <a:latin typeface="Calibri"/>
              </a:rPr>
              <a:t>Turnout &amp;
Demographics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96528" y="2651760"/>
            <a:ext cx="24140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Gender, category, urban/rural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96528" y="4251960"/>
            <a:ext cx="2414016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796528" y="42519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✅ Demo Ready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29416" y="30632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CC"/>
                </a:solidFill>
                <a:latin typeface="Calibri"/>
              </a:rPr>
              <a:t>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48288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1448288" y="1234440"/>
            <a:ext cx="2633472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1558016" y="1353312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558016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558016" y="1956816"/>
            <a:ext cx="2414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44"/>
                </a:solidFill>
                <a:latin typeface="Calibri"/>
              </a:rPr>
              <a:t>Party &amp; Candidate
Performance Tracker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558016" y="2651760"/>
            <a:ext cx="24140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Margins, dominance, re-elections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558016" y="4251960"/>
            <a:ext cx="2414016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1558016" y="42519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✅ Demo Ready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E06663-BFA4-3B76-CC83-F76FD53D8CD2}"/>
              </a:ext>
            </a:extLst>
          </p:cNvPr>
          <p:cNvSpPr txBox="1"/>
          <p:nvPr/>
        </p:nvSpPr>
        <p:spPr>
          <a:xfrm>
            <a:off x="13088825" y="175474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Milestone 1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Data Integration &amp;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Merging, cleaning, and standardising 36 state datasets into one master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0" y="137160"/>
            <a:ext cx="150876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6/16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5806440" cy="65379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6537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5605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✅  Completed — What Was Done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77393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1664208"/>
            <a:ext cx="52486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25 of 36 states merged  ·  13 by Hamiz, 10 by Karishma, 2 by others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34086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2231136"/>
            <a:ext cx="52486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LS + VS + Bypoll integration started — all three types in one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90779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2798064"/>
            <a:ext cx="52486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200+ party abbreviations expanded to full standardised names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7472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364992"/>
            <a:ext cx="52486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GitHub repository created with per-member contribution folders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04164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3931920"/>
            <a:ext cx="52486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Master CSV: 27,415 records · 14 standard columns · ready for Power BI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126187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92240" y="1261872"/>
            <a:ext cx="64008" cy="74980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38544" y="1316736"/>
            <a:ext cx="3639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77CC"/>
                </a:solidFill>
                <a:latin typeface="Calibri"/>
              </a:rPr>
              <a:t>27,415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8544" y="170078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Total Records in Master CSV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0" y="126187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515600" y="1261872"/>
            <a:ext cx="64008" cy="74980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61904" y="1316736"/>
            <a:ext cx="3639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77CC"/>
                </a:solidFill>
                <a:latin typeface="Calibri"/>
              </a:rPr>
              <a:t>21 / 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61904" y="170078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States Merged (Phase 1)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213055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92240" y="2130552"/>
            <a:ext cx="64008" cy="74980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38544" y="2185416"/>
            <a:ext cx="3639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76BBF"/>
                </a:solidFill>
                <a:latin typeface="Calibri"/>
              </a:rPr>
              <a:t>346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38544" y="256946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Bypoll Records Integrated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15600" y="213055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515600" y="2130552"/>
            <a:ext cx="64008" cy="74980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661904" y="2185416"/>
            <a:ext cx="3639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76BBF"/>
                </a:solidFill>
                <a:latin typeface="Calibri"/>
              </a:rPr>
              <a:t>194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61904" y="256946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Unique Party Codes Standardised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299923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92240" y="2999232"/>
            <a:ext cx="64008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38544" y="3054096"/>
            <a:ext cx="3639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7AE60"/>
                </a:solidFill>
                <a:latin typeface="Calibri"/>
              </a:rPr>
              <a:t>1951–2025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38544" y="343814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Election Year Range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515600" y="299923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515600" y="2999232"/>
            <a:ext cx="64008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661904" y="3054096"/>
            <a:ext cx="3639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7AE60"/>
                </a:solidFill>
                <a:latin typeface="Calibri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61904" y="343814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Election Types Covered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3977639"/>
            <a:ext cx="7818120" cy="3794760"/>
          </a:xfrm>
          <a:prstGeom prst="rect">
            <a:avLst/>
          </a:prstGeom>
          <a:solidFill>
            <a:srgbClr val="0A1A44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492240" y="3977639"/>
            <a:ext cx="82296" cy="379476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75120" y="4059936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7CC"/>
                </a:solidFill>
                <a:latin typeface="Calibri"/>
              </a:rPr>
              <a:t>⏭  Next Steps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75120" y="4544568"/>
            <a:ext cx="73152" cy="7315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839712" y="4434840"/>
            <a:ext cx="72420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Merge remaining 15 states (Assam, UP, Haryana, HP, Karnataka…)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75120" y="5093208"/>
            <a:ext cx="73152" cy="7315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839712" y="4983480"/>
            <a:ext cx="72420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Build Power BI star-schema — fact + dimension relationships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75120" y="5641848"/>
            <a:ext cx="73152" cy="7315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839712" y="5532120"/>
            <a:ext cx="72420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Add complete bypoll datasets for all 36 states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030200" y="195591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Milestone 2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Historical Trends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Year-wise election trends · Party seat performance · Constituency result patterns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790714" y="126274"/>
            <a:ext cx="1446494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7/16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✅  Delivered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75564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1645920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Year-wise election trends from 1951 to 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3113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121408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Party-wise seat performance over every decade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0662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2596896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Constituency result patterns with drill-down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18211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072384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Interactive YEAR slicer and STATE filter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65760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547872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Vote trend line chart across elections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13308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4023360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Decade comparison: Lok Sabha vs Vidhan Sabha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18888" y="1298448"/>
            <a:ext cx="9418320" cy="5486400"/>
          </a:xfrm>
          <a:prstGeom prst="rect">
            <a:avLst/>
          </a:prstGeom>
          <a:solidFill>
            <a:srgbClr val="B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54880" y="1234440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54880" y="1234440"/>
            <a:ext cx="94183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19472" y="1298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Historical Trends Dashboard  ·  Party Performance by Year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DEMO SCREENSHOT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28032" y="1691640"/>
            <a:ext cx="1051560" cy="4956048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46320" y="174650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YEAR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2002536"/>
            <a:ext cx="914400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73752" y="203911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7CC"/>
                </a:solidFill>
                <a:latin typeface="Calibri"/>
              </a:rPr>
              <a:t>1952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2350008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73752" y="238658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1962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2697480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73752" y="2734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1977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46320" y="3044952"/>
            <a:ext cx="914400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73752" y="308152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7CC"/>
                </a:solidFill>
                <a:latin typeface="Calibri"/>
              </a:rPr>
              <a:t>1984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3392424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73752" y="342900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1991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3739896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873752" y="377647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2004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46320" y="4087368"/>
            <a:ext cx="914400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73752" y="412394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7CC"/>
                </a:solidFill>
                <a:latin typeface="Calibri"/>
              </a:rPr>
              <a:t>2009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46320" y="4434840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873752" y="447141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2014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46320" y="4782312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873752" y="481888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2019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46320" y="5129784"/>
            <a:ext cx="914400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873752" y="516636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7CC"/>
                </a:solidFill>
                <a:latin typeface="Calibri"/>
              </a:rPr>
              <a:t>2024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61888" y="1709928"/>
            <a:ext cx="8092440" cy="32004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035040" y="1764792"/>
            <a:ext cx="9418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PARTY WINS — TOP 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200253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Indian National Congress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73568" y="2050084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973568" y="2050084"/>
            <a:ext cx="6217920" cy="142646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4237208" y="200253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10,015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0" y="229514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Bharatiya Janata Party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73568" y="2342692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973568" y="2342692"/>
            <a:ext cx="3098094" cy="142646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1117382" y="229514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4,990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35040" y="258775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Independent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73568" y="2635300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973568" y="2635300"/>
            <a:ext cx="921357" cy="142646"/>
          </a:xfrm>
          <a:prstGeom prst="rect">
            <a:avLst/>
          </a:prstGeom>
          <a:solidFill>
            <a:srgbClr val="70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940645" y="258775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1,484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35040" y="288036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Telugu Desam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73568" y="2927908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7973568" y="2927908"/>
            <a:ext cx="900248" cy="14264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919536" y="288036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1,450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35040" y="317296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INC (I)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973568" y="3220516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7973568" y="3220516"/>
            <a:ext cx="623344" cy="14264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642632" y="317296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1,004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5040" y="346557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Janata Party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973568" y="3513124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7973568" y="3513124"/>
            <a:ext cx="485513" cy="14264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504801" y="346557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782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35040" y="375818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CPI(M)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973568" y="3805732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7973568" y="3805732"/>
            <a:ext cx="330918" cy="14264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350206" y="375818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533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961888" y="5001768"/>
            <a:ext cx="8092440" cy="1572768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035040" y="5056632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WINNING VOTE TRENDS ACROSS ELECTIONS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4360" y="6967728"/>
            <a:ext cx="1344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A44"/>
                </a:solidFill>
                <a:latin typeface="Calibri"/>
              </a:rPr>
              <a:t>🎙  This page helps anchors analyse historical swing seats and track how dominant parties rose or fell across decades.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3016213" y="175474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Milestone 3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Real-Time Results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Live-style seat tally · Vote % bars · Party filters · Swing seat identification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8/16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  <a:latin typeface="Calibri"/>
              </a:rPr>
              <a:t>🔧  Prototype Stage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75564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1645920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Live-style seat count updates as results arrive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31136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121408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Vote percentage bars per constituency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06624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2596896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Party and candidate filter slicers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182112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072384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Swing seat identification (close margins highlighted)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657600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547872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Colour-coded leading / trailing party 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13308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4023360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State-level tally card — instant overview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18888" y="1298448"/>
            <a:ext cx="9418320" cy="5486400"/>
          </a:xfrm>
          <a:prstGeom prst="rect">
            <a:avLst/>
          </a:prstGeom>
          <a:solidFill>
            <a:srgbClr val="B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54880" y="1234440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54880" y="1234440"/>
            <a:ext cx="94183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19472" y="1298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LIVE RESULT TRACKER  ·  Party Seat Tally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DEMO SCREENSHOT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64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64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77CC"/>
                </a:solidFill>
                <a:latin typeface="Calibri"/>
              </a:rPr>
              <a:t>543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4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Total Seats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50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50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  <a:latin typeface="Calibri"/>
              </a:rPr>
              <a:t>272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0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Majority Mark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36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36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7AE60"/>
                </a:solidFill>
                <a:latin typeface="Calibri"/>
              </a:rPr>
              <a:t>INC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36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Simulated Lead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722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722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76BBF"/>
                </a:solidFill>
                <a:latin typeface="Calibri"/>
              </a:rPr>
              <a:t>BJP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22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Simulated 2nd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92040" y="2514600"/>
            <a:ext cx="9144000" cy="329184"/>
          </a:xfrm>
          <a:prstGeom prst="rect">
            <a:avLst/>
          </a:prstGeom>
          <a:solidFill>
            <a:srgbClr val="121E38"/>
          </a:solidFill>
          <a:ln w="381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892040" y="2514600"/>
            <a:ext cx="5220331" cy="32918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56048" y="257860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Indian National Congress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6000" y="2578608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310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92040" y="2935224"/>
            <a:ext cx="9144000" cy="329184"/>
          </a:xfrm>
          <a:prstGeom prst="rect">
            <a:avLst/>
          </a:prstGeom>
          <a:solidFill>
            <a:srgbClr val="121E38"/>
          </a:solidFill>
          <a:ln w="381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892040" y="2935224"/>
            <a:ext cx="3367955" cy="329184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956048" y="299923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Bharatiya Janata Party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716000" y="2999232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200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92040" y="3355848"/>
            <a:ext cx="9144000" cy="329184"/>
          </a:xfrm>
          <a:prstGeom prst="rect">
            <a:avLst/>
          </a:prstGeom>
          <a:solidFill>
            <a:srgbClr val="121E38"/>
          </a:solidFill>
          <a:ln w="381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892040" y="3355848"/>
            <a:ext cx="555712" cy="32918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956048" y="341985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Regional / Others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16000" y="3419856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33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64608" y="3840480"/>
            <a:ext cx="9198864" cy="2761488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956048" y="3904488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CONSTITUENCY RESULT DETAILS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01184" y="416052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State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64224" y="416052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Constituency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84464" y="41605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Leading Candidate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70464" y="416052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Party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673584" y="416052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Margin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64608" y="4398264"/>
            <a:ext cx="9198864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901184" y="441655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Andhra Pradesh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64224" y="441655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Ongole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84464" y="44165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Maganti 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70464" y="441655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TDP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673584" y="4416552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12,450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64608" y="4645152"/>
            <a:ext cx="9198864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901184" y="466344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Bihar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64224" y="466344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Patna Sahib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84464" y="46634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R S Prasad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70464" y="4663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673584" y="466344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95,210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64608" y="4892040"/>
            <a:ext cx="9198864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901184" y="491032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Delhi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64224" y="49103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New Delhi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84464" y="49103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Meenakshi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70464" y="491032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673584" y="491032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78,300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64608" y="5138928"/>
            <a:ext cx="9198864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901184" y="515721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Gujarat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64224" y="515721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Gandhinagar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84464" y="515721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Amit Shah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70464" y="515721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673584" y="515721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557,014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864608" y="5385816"/>
            <a:ext cx="9198864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901184" y="540410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MP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64224" y="540410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Indore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84464" y="540410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K Vijayvargiya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70464" y="540410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673584" y="5404104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1,043,000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94360" y="6967728"/>
            <a:ext cx="1344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A44"/>
                </a:solidFill>
                <a:latin typeface="Calibri"/>
              </a:rPr>
              <a:t>🎙  This page lets anchors stream live constituency results, spotlight swing seats, and filter by party or state on air.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B97A17-790B-0E2C-642E-D3CBF8282605}"/>
              </a:ext>
            </a:extLst>
          </p:cNvPr>
          <p:cNvSpPr txBox="1"/>
          <p:nvPr/>
        </p:nvSpPr>
        <p:spPr>
          <a:xfrm>
            <a:off x="13088825" y="175474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Milestone 4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Turnout &amp; Demographics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Gender · Category · State turnout · Urban vs Rural classification (in progress)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9/16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✅  Delivered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75564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1645920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Gender winners: Male 94.4%  ·  Female 5.6%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4942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139696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Category split: General 74% · ST 15% · SC 10%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4320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2633472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State-wise average voter turnout mapped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23697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127248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Top 10 constituencies by turnout identified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73075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621024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Decade-wise participation trend chart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72000"/>
            <a:ext cx="4160520" cy="214884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572000"/>
            <a:ext cx="64008" cy="2148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464515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  <a:latin typeface="Calibri"/>
              </a:rPr>
              <a:t>🔧  In Progress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09320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2" y="4983480"/>
            <a:ext cx="36758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Urban vs Rural tagging using Census 2011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59612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" y="5486400"/>
            <a:ext cx="36758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Cross-filter with party performance layer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18888" y="1298448"/>
            <a:ext cx="9418320" cy="5486400"/>
          </a:xfrm>
          <a:prstGeom prst="rect">
            <a:avLst/>
          </a:prstGeom>
          <a:solidFill>
            <a:srgbClr val="B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754880" y="1234440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754880" y="1234440"/>
            <a:ext cx="94183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19472" y="1298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VOTER TURNOUT &amp; DEMOGRAPHICS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DEMO SCREENSHOT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155680" y="1709928"/>
            <a:ext cx="2880360" cy="1691640"/>
          </a:xfrm>
          <a:prstGeom prst="rect">
            <a:avLst/>
          </a:prstGeom>
          <a:solidFill>
            <a:srgbClr val="121E38"/>
          </a:solidFill>
          <a:ln w="635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155680" y="1874520"/>
            <a:ext cx="2880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77CC"/>
                </a:solidFill>
                <a:latin typeface="Calibri"/>
              </a:rPr>
              <a:t>30.03%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256032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08096"/>
                </a:solidFill>
                <a:latin typeface="Calibri"/>
              </a:rPr>
              <a:t>Average Voter Turnout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2862072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  <a:latin typeface="Calibri"/>
              </a:rPr>
              <a:t>Highest: Tripura  59.6%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92040" y="1709928"/>
            <a:ext cx="2743200" cy="1691640"/>
          </a:xfrm>
          <a:prstGeom prst="rect">
            <a:avLst/>
          </a:prstGeom>
          <a:solidFill>
            <a:srgbClr val="121E38"/>
          </a:solidFill>
          <a:ln w="635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83480" y="178308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GENDER DISTRIBUTION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2093976"/>
            <a:ext cx="2423160" cy="20116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316663" y="2093976"/>
            <a:ext cx="135696" cy="201168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9200" y="23500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6BBF"/>
                </a:solidFill>
                <a:latin typeface="Calibri"/>
              </a:rPr>
              <a:t>Male 94.4%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23500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6BBF"/>
                </a:solidFill>
                <a:latin typeface="Calibri"/>
              </a:rPr>
              <a:t>25,885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26243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9B4"/>
                </a:solidFill>
                <a:latin typeface="Calibri"/>
              </a:rPr>
              <a:t>Female 5.6%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26243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9B4"/>
                </a:solidFill>
                <a:latin typeface="Calibri"/>
              </a:rPr>
              <a:t> 1,530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20" y="1709928"/>
            <a:ext cx="3337560" cy="1691640"/>
          </a:xfrm>
          <a:prstGeom prst="rect">
            <a:avLst/>
          </a:prstGeom>
          <a:solidFill>
            <a:srgbClr val="121E38"/>
          </a:solidFill>
          <a:ln w="635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909560" y="178308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CONSTITUENCY CATEGORY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9560" y="205740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A"/>
                </a:solidFill>
                <a:latin typeface="Calibri"/>
              </a:rPr>
              <a:t>General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23960" y="2112264"/>
            <a:ext cx="1691640" cy="10972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823960" y="2112264"/>
            <a:ext cx="1252733" cy="10972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561320" y="205740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20,302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9560" y="245973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A"/>
                </a:solidFill>
                <a:latin typeface="Calibri"/>
              </a:rPr>
              <a:t>ST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23960" y="2514600"/>
            <a:ext cx="1691640" cy="10972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823960" y="2514600"/>
            <a:ext cx="260888" cy="1097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561320" y="2459736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4,228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9560" y="286207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A"/>
                </a:solidFill>
                <a:latin typeface="Calibri"/>
              </a:rPr>
              <a:t>SC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23960" y="2916936"/>
            <a:ext cx="1691640" cy="10972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823960" y="2916936"/>
            <a:ext cx="170984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561320" y="2862072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2,771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64608" y="3566160"/>
            <a:ext cx="9198864" cy="3035808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956048" y="3630168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AVG TURNOUT % BY STATE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91836" y="4767337"/>
            <a:ext cx="543153" cy="1496303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956048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Tripura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97092" y="4784911"/>
            <a:ext cx="543153" cy="1478729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861304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Delhi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02348" y="4882823"/>
            <a:ext cx="543153" cy="1380817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766560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Goa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07604" y="4940567"/>
            <a:ext cx="543153" cy="1323073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671816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MP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712860" y="5083669"/>
            <a:ext cx="543153" cy="1179971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577072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Maha.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18116" y="5226772"/>
            <a:ext cx="543153" cy="103686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482328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Bihar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523372" y="5372386"/>
            <a:ext cx="543153" cy="891254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0387584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Megh.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428628" y="5455235"/>
            <a:ext cx="543153" cy="808405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1292840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Arunachal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2333884" y="5533063"/>
            <a:ext cx="543153" cy="730577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2198096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AP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3239140" y="5701271"/>
            <a:ext cx="543153" cy="562369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3103352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J&amp;K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94360" y="6967728"/>
            <a:ext cx="1344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A44"/>
                </a:solidFill>
                <a:latin typeface="Calibri"/>
              </a:rPr>
              <a:t>🎙  This page reveals which states and constituencies have the lowest turnout — critical for newsroom-produced voter engagement stories.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F0950D-7D34-0559-51A0-B3338F8B6F6E}"/>
              </a:ext>
            </a:extLst>
          </p:cNvPr>
          <p:cNvSpPr txBox="1"/>
          <p:nvPr/>
        </p:nvSpPr>
        <p:spPr>
          <a:xfrm>
            <a:off x="13088825" y="175474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Milestone 5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Party &amp; Candidate Performance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State dominance · Win margins · Candidate re-elections · Alliance insights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10/16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✅  Delivered in Demo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77393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1664208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State-wise party dominance mapping and heatmap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6771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157984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Top 10 winning candidates by vote count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6148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2651760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Win/loss margin analysis per constituency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25526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145536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Candidate re-election performance tracker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74904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639312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Alliance-level seat tally insights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736592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4736592"/>
            <a:ext cx="64008" cy="47548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" y="47731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7CC"/>
                </a:solidFill>
                <a:latin typeface="Calibri"/>
              </a:rPr>
              <a:t>INC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49743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10,015 wins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4736592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606040" y="4736592"/>
            <a:ext cx="64008" cy="47548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52344" y="47731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BBF"/>
                </a:solidFill>
                <a:latin typeface="Calibri"/>
              </a:rPr>
              <a:t>BJP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52344" y="49743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4,990 wins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303520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2920" y="5303520"/>
            <a:ext cx="64008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" y="534009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TDP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" y="55412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1,450 wins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06040" y="5303520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06040" y="5303520"/>
            <a:ext cx="64008" cy="47548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52344" y="534009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44AD"/>
                </a:solidFill>
                <a:latin typeface="Calibri"/>
              </a:rPr>
              <a:t>INC(I)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52344" y="55412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1,004 wins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18888" y="1298448"/>
            <a:ext cx="9418320" cy="5486400"/>
          </a:xfrm>
          <a:prstGeom prst="rect">
            <a:avLst/>
          </a:prstGeom>
          <a:solidFill>
            <a:srgbClr val="B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754880" y="1234440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754880" y="1234440"/>
            <a:ext cx="94183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19472" y="1298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PARTY &amp; CANDIDATE PERFORMANCE  ·  Top Wins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DEMO SCREENSHOT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92040" y="1709928"/>
            <a:ext cx="9144000" cy="310896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65192" y="1764792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TOP 10 PARTIES BY ALL-TIME WINS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65192" y="202082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Indian National Congress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03720" y="2068372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903720" y="2068372"/>
            <a:ext cx="6594566" cy="18105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473684" y="204237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 dirty="0">
                <a:solidFill>
                  <a:srgbClr val="708096"/>
                </a:solidFill>
                <a:latin typeface="Calibri"/>
              </a:rPr>
              <a:t>10,015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65192" y="231343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Bharatiya Janata Party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03720" y="2360980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903720" y="2360980"/>
            <a:ext cx="3553697" cy="142646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503137" y="231343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4,990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65192" y="260604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Independent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03720" y="2653588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903720" y="2653588"/>
            <a:ext cx="1056851" cy="142646"/>
          </a:xfrm>
          <a:prstGeom prst="rect">
            <a:avLst/>
          </a:prstGeom>
          <a:solidFill>
            <a:srgbClr val="70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006291" y="260604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1,484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65192" y="289864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Telugu Desam Party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03720" y="2946196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903720" y="2946196"/>
            <a:ext cx="1032637" cy="14264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982077" y="289864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1,450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65192" y="319125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INC (I)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03720" y="3238804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903720" y="3238804"/>
            <a:ext cx="715012" cy="14264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664452" y="319125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1,004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65192" y="348386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Janata Party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03720" y="3531412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6903720" y="3531412"/>
            <a:ext cx="556912" cy="14264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506352" y="348386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782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65192" y="377647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RJD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03720" y="3824020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903720" y="3824020"/>
            <a:ext cx="404509" cy="14264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353949" y="377647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568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965192" y="406908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CPI(M)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903720" y="4116628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6903720" y="4116628"/>
            <a:ext cx="379583" cy="142646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329023" y="406908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533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965192" y="436168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Janata Dal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03720" y="4409236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6903720" y="4409236"/>
            <a:ext cx="376734" cy="14264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326174" y="436168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529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65192" y="465429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Shiv Sena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903720" y="4701844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6903720" y="4701844"/>
            <a:ext cx="335429" cy="14264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284869" y="465429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471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892040" y="4946903"/>
            <a:ext cx="9144000" cy="1664209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965192" y="5001768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TOP CANDIDATES BY VOTES RECEIVED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937760" y="5257800"/>
            <a:ext cx="9144000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983480" y="52760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Kailash Vijayvargiya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75320" y="52760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38360" y="52760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1,734,313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937760" y="5504688"/>
            <a:ext cx="9144000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983480" y="552297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Yogender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75320" y="552297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738360" y="55229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1,480,000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37760" y="5751576"/>
            <a:ext cx="9144000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983480" y="576986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Sushma Swaraj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75320" y="576986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738360" y="57698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1,120,000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937760" y="5998464"/>
            <a:ext cx="9144000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983480" y="601675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Rajnath Singh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75320" y="60167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738360" y="6016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932,000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594360" y="6967728"/>
            <a:ext cx="13441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A1A44"/>
                </a:solidFill>
                <a:latin typeface="Calibri"/>
              </a:rPr>
              <a:t>  This page shows which parties dominate which states and which candidates attract the most votes </a:t>
            </a:r>
            <a:r>
              <a:rPr lang="en-IN" sz="1100" b="0" i="0" dirty="0">
                <a:solidFill>
                  <a:srgbClr val="0A1A44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0A1A44"/>
                </a:solidFill>
                <a:latin typeface="Calibri"/>
              </a:rPr>
              <a:t> perfect for election night analysis.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C0E29-8087-F59F-EB2C-F00A5AB19E44}"/>
              </a:ext>
            </a:extLst>
          </p:cNvPr>
          <p:cNvSpPr txBox="1"/>
          <p:nvPr/>
        </p:nvSpPr>
        <p:spPr>
          <a:xfrm>
            <a:off x="13088825" y="175474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Urban vs Rural Constituency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Census 2011 Urban-Rural Population Table · Metro, Semi-urban, Village seat tagging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11/16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13716000" cy="566928"/>
          </a:xfrm>
          <a:prstGeom prst="rect">
            <a:avLst/>
          </a:prstGeom>
          <a:solidFill>
            <a:srgbClr val="0A1A44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82296" cy="56692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1335024"/>
            <a:ext cx="1335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Method: Map each constituency's district to Census 2011 U-R population ratio  ·  Urban ≥60%  ·  Rural &lt;30%  ·  Semi-Urban in between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38528"/>
            <a:ext cx="4370832" cy="324612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1938528"/>
            <a:ext cx="4370832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204825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230"/>
                </a:solidFill>
                <a:latin typeface="Calibri"/>
              </a:rPr>
              <a:t>🏙️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2606040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7CC"/>
                </a:solidFill>
                <a:latin typeface="Calibri"/>
              </a:rPr>
              <a:t>Urban Constituencies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297180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Districts with ≥60% urban population
Covers: Delhi, Mumbai, Hyderabad, Bengaluru,
Kolkata, Chennai and metro areas
Higher turnout · Multi-party competition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10912" y="1938528"/>
            <a:ext cx="4370832" cy="324612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10912" y="1938528"/>
            <a:ext cx="4370832" cy="54864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38928" y="204825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230"/>
                </a:solidFill>
                <a:latin typeface="Calibri"/>
              </a:rPr>
              <a:t>🏘️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2606040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BBF"/>
                </a:solidFill>
                <a:latin typeface="Calibri"/>
              </a:rPr>
              <a:t>Semi-Urban Constituencies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8928" y="297180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Districts with 30–60% urban population
Mainly tier-2 cities and district HQs
Classic swing seats — competitive across parties
Often decide state-level majorities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64624" y="1938528"/>
            <a:ext cx="4370832" cy="324612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564624" y="1938528"/>
            <a:ext cx="437083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92640" y="204825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230"/>
                </a:solidFill>
                <a:latin typeface="Calibri"/>
              </a:rPr>
              <a:t>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606040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Rural Constituencies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97180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Districts with &lt;30% urban population
Village-dominant, common in SC/ST reserved seats
Strong regional and single-party dominance
Lower turnout variation year on year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349240"/>
            <a:ext cx="13716000" cy="2212848"/>
          </a:xfrm>
          <a:prstGeom prst="rect">
            <a:avLst/>
          </a:prstGeom>
          <a:solidFill>
            <a:srgbClr val="F0F4F8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5349240"/>
            <a:ext cx="82296" cy="22128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5422392"/>
            <a:ext cx="1335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44"/>
                </a:solidFill>
                <a:latin typeface="Calibri"/>
              </a:rPr>
              <a:t>Real Examples from Census 2011: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806440"/>
            <a:ext cx="437083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58368" y="5806440"/>
            <a:ext cx="64008" cy="148132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5870448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7CC"/>
                </a:solidFill>
                <a:latin typeface="Calibri"/>
              </a:rPr>
              <a:t>Delhi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18134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230"/>
                </a:solidFill>
                <a:latin typeface="Calibri"/>
              </a:rPr>
              <a:t>97.5% urban urban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382512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8096"/>
                </a:solidFill>
                <a:latin typeface="Calibri"/>
              </a:rPr>
              <a:t>→ All 70 Vidhan Sabha constituencies tagged URBAN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80" y="5806440"/>
            <a:ext cx="437083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212080" y="5806440"/>
            <a:ext cx="64008" cy="14813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76672" y="5870448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Bihar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76672" y="618134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230"/>
                </a:solidFill>
                <a:latin typeface="Calibri"/>
              </a:rPr>
              <a:t>11.3% urban urban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76672" y="6382512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8096"/>
                </a:solidFill>
                <a:latin typeface="Calibri"/>
              </a:rPr>
              <a:t>→ Majority constituencies tagged RURAL-dominant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65792" y="5806440"/>
            <a:ext cx="437083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765792" y="5806440"/>
            <a:ext cx="64008" cy="148132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930384" y="5870448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6BBF"/>
                </a:solidFill>
                <a:latin typeface="Calibri"/>
              </a:rPr>
              <a:t>Maharashtra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30384" y="618134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230"/>
                </a:solidFill>
                <a:latin typeface="Calibri"/>
              </a:rPr>
              <a:t>45.2% urban urban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30384" y="6382512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8096"/>
                </a:solidFill>
                <a:latin typeface="Calibri"/>
              </a:rPr>
              <a:t>→ Mix of Urban (Mumbai) + Rural (Vidarbha) + Semi-Urban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65AB2E-8F9E-B1E9-071A-5BBC02DD179C}"/>
              </a:ext>
            </a:extLst>
          </p:cNvPr>
          <p:cNvSpPr txBox="1"/>
          <p:nvPr/>
        </p:nvSpPr>
        <p:spPr>
          <a:xfrm>
            <a:off x="13088825" y="175474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Team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Individual contributions and role assignments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13/16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353312" y="1399032"/>
            <a:ext cx="731520" cy="731520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53312" y="13990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44"/>
                </a:solidFill>
                <a:latin typeface="Calibri"/>
              </a:rPr>
              <a:t>Hamiz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2587752"/>
            <a:ext cx="2084832" cy="237744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Team Lead</a:t>
            </a:r>
            <a:r>
              <a:rPr lang="en-IN" sz="900" b="1" i="0" dirty="0">
                <a:solidFill>
                  <a:srgbClr val="FFFFFF"/>
                </a:solidFill>
                <a:latin typeface="Calibri"/>
              </a:rPr>
              <a:t> &amp; Data Analyst</a:t>
            </a:r>
            <a:endParaRPr sz="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30352" y="3026664"/>
            <a:ext cx="73152" cy="73152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" y="2953512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2230"/>
                </a:solidFill>
                <a:latin typeface="Calibri"/>
              </a:rPr>
              <a:t>1</a:t>
            </a:r>
            <a:r>
              <a:rPr lang="en-IN" sz="1000" b="0" i="0" dirty="0">
                <a:solidFill>
                  <a:srgbClr val="1A2230"/>
                </a:solidFill>
                <a:latin typeface="Calibri"/>
              </a:rPr>
              <a:t>1</a:t>
            </a:r>
            <a:r>
              <a:rPr sz="1000" b="0" i="0" dirty="0">
                <a:solidFill>
                  <a:srgbClr val="1A2230"/>
                </a:solidFill>
                <a:latin typeface="Calibri"/>
              </a:rPr>
              <a:t> states merged, dataset validated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3465576"/>
            <a:ext cx="73152" cy="73152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" y="3392424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GitHub setup + maintenance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3904488"/>
            <a:ext cx="73152" cy="73152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" y="3831336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Power BI dashboard development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4343400"/>
            <a:ext cx="73152" cy="73152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" y="4270248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PPT + final report preparation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54680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05656" y="1399032"/>
            <a:ext cx="731520" cy="7315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05656" y="13990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44"/>
                </a:solidFill>
                <a:latin typeface="Calibri"/>
              </a:rPr>
              <a:t>Karishma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000" y="2587752"/>
            <a:ext cx="2084832" cy="237744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29000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Data Analyst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82696" y="3026664"/>
            <a:ext cx="73152" cy="731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29000" y="2953512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2230"/>
                </a:solidFill>
                <a:latin typeface="Calibri"/>
              </a:rPr>
              <a:t>10 states </a:t>
            </a:r>
            <a:r>
              <a:rPr lang="en-IN" sz="1000" b="0" i="0" dirty="0">
                <a:solidFill>
                  <a:srgbClr val="1A2230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1A2230"/>
                </a:solidFill>
                <a:latin typeface="Calibri"/>
              </a:rPr>
              <a:t> VS completed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82696" y="3465576"/>
            <a:ext cx="73152" cy="731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29000" y="3392424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LS collection in progress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82696" y="3904488"/>
            <a:ext cx="73152" cy="731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29000" y="3831336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Bypoll data cleaning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82696" y="4343400"/>
            <a:ext cx="73152" cy="731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29000" y="4270248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Column mapping verification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07024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858000" y="1399032"/>
            <a:ext cx="731520" cy="731520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58000" y="13990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98464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44"/>
                </a:solidFill>
                <a:latin typeface="Calibri"/>
              </a:rPr>
              <a:t>Vennela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81344" y="2587752"/>
            <a:ext cx="2084832" cy="237744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81344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Data Analyst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3026664"/>
            <a:ext cx="73152" cy="73152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81344" y="2953512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00" dirty="0">
                <a:solidFill>
                  <a:srgbClr val="1A2230"/>
                </a:solidFill>
                <a:latin typeface="Calibri"/>
              </a:rPr>
              <a:t>5</a:t>
            </a:r>
            <a:r>
              <a:rPr sz="1000" b="0" i="0" dirty="0">
                <a:solidFill>
                  <a:srgbClr val="1A2230"/>
                </a:solidFill>
                <a:latin typeface="Calibri"/>
              </a:rPr>
              <a:t> states assigned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3465576"/>
            <a:ext cx="73152" cy="73152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81344" y="3392424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VS + LS data collection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3904488"/>
            <a:ext cx="73152" cy="73152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81344" y="3831336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Bypoll for assigned states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4343400"/>
            <a:ext cx="73152" cy="73152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181344" y="4270248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State-level QC checks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59368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610344" y="1399032"/>
            <a:ext cx="731520" cy="731520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610344" y="13990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50808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44"/>
                </a:solidFill>
                <a:latin typeface="Calibri"/>
              </a:rPr>
              <a:t>Aman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33688" y="2587752"/>
            <a:ext cx="2084832" cy="237744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933688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Data Analyst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787384" y="3026664"/>
            <a:ext cx="73152" cy="73152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933688" y="2953512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00" dirty="0">
                <a:solidFill>
                  <a:srgbClr val="1A2230"/>
                </a:solidFill>
                <a:latin typeface="Calibri"/>
              </a:rPr>
              <a:t>5</a:t>
            </a:r>
            <a:r>
              <a:rPr sz="1000" b="0" i="0" dirty="0">
                <a:solidFill>
                  <a:srgbClr val="1A2230"/>
                </a:solidFill>
                <a:latin typeface="Calibri"/>
              </a:rPr>
              <a:t> states assigned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87384" y="3465576"/>
            <a:ext cx="73152" cy="73152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933688" y="3392424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2230"/>
                </a:solidFill>
                <a:latin typeface="Calibri"/>
              </a:rPr>
              <a:t>Data formatting + cleaning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87384" y="3904488"/>
            <a:ext cx="73152" cy="73152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933688" y="3831336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1A2230"/>
                </a:solidFill>
                <a:latin typeface="Calibri"/>
              </a:rPr>
              <a:t>Bypoll</a:t>
            </a:r>
            <a:r>
              <a:rPr sz="1000" b="0" i="0" dirty="0">
                <a:solidFill>
                  <a:srgbClr val="1A2230"/>
                </a:solidFill>
                <a:latin typeface="Calibri"/>
              </a:rPr>
              <a:t> data mapping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787384" y="4343400"/>
            <a:ext cx="73152" cy="73152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933688" y="4270248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2230"/>
                </a:solidFill>
                <a:latin typeface="Calibri"/>
              </a:rPr>
              <a:t>Validation reports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411712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2362688" y="1399032"/>
            <a:ext cx="731520" cy="731520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2362688" y="13990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503152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44"/>
                </a:solidFill>
                <a:latin typeface="Calibri"/>
              </a:rPr>
              <a:t>Gajavadan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686032" y="2587752"/>
            <a:ext cx="2084832" cy="237744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1686032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900" b="1" i="0" dirty="0">
                <a:solidFill>
                  <a:srgbClr val="FFFFFF"/>
                </a:solidFill>
                <a:latin typeface="Calibri"/>
              </a:rPr>
              <a:t>Data Analyst</a:t>
            </a:r>
            <a:endParaRPr sz="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1539728" y="3026664"/>
            <a:ext cx="73152" cy="73152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686032" y="2953512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rgbClr val="1A2230"/>
                </a:solidFill>
              </a:rPr>
              <a:t>5 states assigned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539728" y="3465576"/>
            <a:ext cx="73152" cy="73152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1686032" y="3392424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rgbClr val="1A2230"/>
                </a:solidFill>
              </a:rPr>
              <a:t>Data formatting + cleaning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539728" y="3904488"/>
            <a:ext cx="73152" cy="73152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1686032" y="3831336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 err="1">
                <a:solidFill>
                  <a:srgbClr val="1A2230"/>
                </a:solidFill>
              </a:rPr>
              <a:t>Bypoll</a:t>
            </a:r>
            <a:r>
              <a:rPr lang="en-IN" sz="1000" dirty="0">
                <a:solidFill>
                  <a:srgbClr val="1A2230"/>
                </a:solidFill>
              </a:rPr>
              <a:t> data mapping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539728" y="4343400"/>
            <a:ext cx="73152" cy="73152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1686032" y="4270248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rgbClr val="1A2230"/>
                </a:solidFill>
              </a:rPr>
              <a:t>Validation reports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AA1E36-3653-0982-EEA7-C4FFAE23FFD4}"/>
              </a:ext>
            </a:extLst>
          </p:cNvPr>
          <p:cNvSpPr txBox="1"/>
          <p:nvPr/>
        </p:nvSpPr>
        <p:spPr>
          <a:xfrm>
            <a:off x="13088825" y="175474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391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Issues encountered and how the team resolved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14/16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50749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128016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234440"/>
            <a:ext cx="8503920" cy="3840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06440" y="12801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1234440"/>
            <a:ext cx="251460" cy="492736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1691640"/>
            <a:ext cx="5074920" cy="1389888"/>
          </a:xfrm>
          <a:prstGeom prst="rect">
            <a:avLst/>
          </a:prstGeom>
          <a:solidFill>
            <a:srgbClr val="FFF8E8"/>
          </a:solidFill>
          <a:ln w="101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1691640"/>
            <a:ext cx="64008" cy="13898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1728216"/>
            <a:ext cx="47548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F39C12"/>
                </a:solidFill>
                <a:latin typeface="Calibri"/>
              </a:rPr>
              <a:t> BIGGEST PAIN 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96596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Missing Lok Sabha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313432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7 states had no LS files in initial data package.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1691640"/>
            <a:ext cx="8503920" cy="1389888"/>
          </a:xfrm>
          <a:prstGeom prst="rect">
            <a:avLst/>
          </a:prstGeom>
          <a:solidFill>
            <a:srgbClr val="F0F7FF"/>
          </a:solidFill>
          <a:ln w="101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69280" y="1691640"/>
            <a:ext cx="64008" cy="13898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79008" y="1764792"/>
            <a:ext cx="8229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Marked for Phase 2 sourcing from ECI portal; removed from demo dataset.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72968"/>
            <a:ext cx="507492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2461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Data Format Inconsistencies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593592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36 source files had different column names and encodings.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0" y="3172968"/>
            <a:ext cx="8503920" cy="13898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0" y="3172968"/>
            <a:ext cx="64008" cy="13898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79008" y="3246120"/>
            <a:ext cx="8229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Built global column mapping + 200+ party abbreviation dictionary applied across all files.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654296"/>
            <a:ext cx="5074920" cy="13898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47274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Bypoll Dataset Delays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07492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Bypoll files stored separately; not integrated initially.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4654296"/>
            <a:ext cx="8503920" cy="13898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669280" y="4654295"/>
            <a:ext cx="64008" cy="150751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79008" y="4727448"/>
            <a:ext cx="8229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Created dedicated Bypoll CSV pipeline — 346 records now validated and integrated.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93C725-F69D-DE71-825B-2372D06C1047}"/>
              </a:ext>
            </a:extLst>
          </p:cNvPr>
          <p:cNvSpPr txBox="1"/>
          <p:nvPr/>
        </p:nvSpPr>
        <p:spPr>
          <a:xfrm>
            <a:off x="13088825" y="175474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AE6B5-E155-0C36-20DA-5C01A9BEE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E603351-B2F9-FFB1-CEA6-1ED4656C9992}"/>
              </a:ext>
            </a:extLst>
          </p:cNvPr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9262DE-F018-52C6-987B-636E0831AC39}"/>
              </a:ext>
            </a:extLst>
          </p:cNvPr>
          <p:cNvSpPr txBox="1"/>
          <p:nvPr/>
        </p:nvSpPr>
        <p:spPr>
          <a:xfrm>
            <a:off x="274320" y="91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Demo Dashboard (Prototype with 21 States Completed)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37E8E32B-2251-9D29-9493-B7445C1FAF3A}"/>
              </a:ext>
            </a:extLst>
          </p:cNvPr>
          <p:cNvSpPr txBox="1"/>
          <p:nvPr/>
        </p:nvSpPr>
        <p:spPr>
          <a:xfrm>
            <a:off x="274320" y="4572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India Election Analytics  ·  Lok Sabha  ·  Vidhan Sabha  ·  1951–2025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A7F9855D-ABF5-D40D-1649-EC46117A79E4}"/>
              </a:ext>
            </a:extLst>
          </p:cNvPr>
          <p:cNvSpPr/>
          <p:nvPr/>
        </p:nvSpPr>
        <p:spPr>
          <a:xfrm>
            <a:off x="13088825" y="66526"/>
            <a:ext cx="1358240" cy="6321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4F1B4FDF-8103-B459-1505-0146D341A21A}"/>
              </a:ext>
            </a:extLst>
          </p:cNvPr>
          <p:cNvSpPr/>
          <p:nvPr/>
        </p:nvSpPr>
        <p:spPr>
          <a:xfrm>
            <a:off x="0" y="769838"/>
            <a:ext cx="14630400" cy="1828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D5E6F4-782A-D263-7ACA-1F2225858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4815"/>
            <a:ext cx="14630400" cy="74447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33D2BB-1981-9A96-27C3-5BE22A500FCD}"/>
              </a:ext>
            </a:extLst>
          </p:cNvPr>
          <p:cNvSpPr txBox="1"/>
          <p:nvPr/>
        </p:nvSpPr>
        <p:spPr>
          <a:xfrm>
            <a:off x="13308508" y="90299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  <p:extLst>
      <p:ext uri="{BB962C8B-B14F-4D97-AF65-F5344CB8AC3E}">
        <p14:creationId xmlns:p14="http://schemas.microsoft.com/office/powerpoint/2010/main" val="4097639003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Final Execution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Roadmap before final evaluation — 5 steps to completion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2750654" y="137160"/>
            <a:ext cx="1651146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16/16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809744"/>
            <a:ext cx="13533120" cy="73152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4645152"/>
            <a:ext cx="402336" cy="402336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6451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" y="4809744"/>
            <a:ext cx="2980944" cy="73152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3232" y="4352544"/>
            <a:ext cx="73152" cy="4572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1261872"/>
            <a:ext cx="2560320" cy="30906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1261872"/>
            <a:ext cx="256032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1371600"/>
            <a:ext cx="23408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Merge Remaining
15 States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1956816"/>
            <a:ext cx="23408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Assam, UP, Haryana, HP,
Karnataka, Kerala, Punjab…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005072"/>
            <a:ext cx="2340864" cy="29260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4005072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👤  Hamiz + 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4645152"/>
            <a:ext cx="402336" cy="402336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31920" y="46451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34256" y="4809744"/>
            <a:ext cx="2980944" cy="73152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096512" y="4974336"/>
            <a:ext cx="73152" cy="128016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40480" y="5102352"/>
            <a:ext cx="2560320" cy="2414016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840480" y="5102352"/>
            <a:ext cx="2560320" cy="54864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50208" y="5212080"/>
            <a:ext cx="23408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Complete Bypoll
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50208" y="5797296"/>
            <a:ext cx="23408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36-state bypoll data
cleaned and merged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50208" y="7072666"/>
            <a:ext cx="2340864" cy="29260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50207" y="7103554"/>
            <a:ext cx="234086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👤  Karishma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4645152"/>
            <a:ext cx="402336" cy="40233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0" y="46451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17536" y="4809744"/>
            <a:ext cx="2980944" cy="73152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479792" y="4352544"/>
            <a:ext cx="73152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223760" y="1261872"/>
            <a:ext cx="2560320" cy="30906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223760" y="1261872"/>
            <a:ext cx="25603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33488" y="1371600"/>
            <a:ext cx="23408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Build Star-Schema
Data 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33488" y="1956816"/>
            <a:ext cx="23408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Power BI fact + dimension
relationships finalised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33488" y="4005072"/>
            <a:ext cx="2340864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33488" y="4005072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👤  Hamiz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98480" y="4645152"/>
            <a:ext cx="402336" cy="40233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698480" y="46451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100816" y="4809744"/>
            <a:ext cx="2980944" cy="73152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863072" y="4974336"/>
            <a:ext cx="73152" cy="12801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607040" y="5102352"/>
            <a:ext cx="2560320" cy="2414016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607040" y="5102352"/>
            <a:ext cx="256032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716768" y="5212080"/>
            <a:ext cx="23408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All 5 Dashboard
Pages Done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16768" y="5797296"/>
            <a:ext cx="23408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Full 36-state data
across every page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727654" y="7040008"/>
            <a:ext cx="2340864" cy="29260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793838" y="7070870"/>
            <a:ext cx="19568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👤  Full Team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4081760" y="4645152"/>
            <a:ext cx="402336" cy="40233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4081760" y="46451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081581" y="4352544"/>
            <a:ext cx="73152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1987348" y="1261872"/>
            <a:ext cx="2560320" cy="30906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1987348" y="1261872"/>
            <a:ext cx="25603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2097076" y="1371600"/>
            <a:ext cx="23408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A1A44"/>
                </a:solidFill>
                <a:latin typeface="Calibri"/>
              </a:rPr>
              <a:t>End-to-End Test
&amp; Delivery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097076" y="1956816"/>
            <a:ext cx="23408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2230"/>
                </a:solidFill>
                <a:latin typeface="Calibri"/>
              </a:rPr>
              <a:t>Test all filters, drill-downs;
deliver final PPT+PBIX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086186" y="4005072"/>
            <a:ext cx="2340864" cy="2926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2097076" y="4005072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👤  Hamiz+Karishma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E61A33-54BB-813F-5469-4BEB07090A77}"/>
              </a:ext>
            </a:extLst>
          </p:cNvPr>
          <p:cNvSpPr txBox="1"/>
          <p:nvPr/>
        </p:nvSpPr>
        <p:spPr>
          <a:xfrm>
            <a:off x="13088825" y="175474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4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01200" cy="8229600"/>
          </a:xfrm>
          <a:prstGeom prst="rect">
            <a:avLst/>
          </a:prstGeom>
          <a:solidFill>
            <a:srgbClr val="08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961120" cy="8229600"/>
          </a:xfrm>
          <a:prstGeom prst="rect">
            <a:avLst/>
          </a:prstGeom>
          <a:solidFill>
            <a:srgbClr val="06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54864" cy="822960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052560" y="0"/>
            <a:ext cx="54864" cy="8229600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0" y="0"/>
            <a:ext cx="54864" cy="8229600"/>
          </a:xfrm>
          <a:prstGeom prst="rect">
            <a:avLst/>
          </a:prstGeom>
          <a:solidFill>
            <a:srgbClr val="0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235440" y="0"/>
            <a:ext cx="54864" cy="82296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326880" y="0"/>
            <a:ext cx="54864" cy="8229600"/>
          </a:xfrm>
          <a:prstGeom prst="rect">
            <a:avLst/>
          </a:prstGeom>
          <a:solidFill>
            <a:srgbClr val="003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418320" y="0"/>
            <a:ext cx="54864" cy="8229600"/>
          </a:xfrm>
          <a:prstGeom prst="rect">
            <a:avLst/>
          </a:prstGeom>
          <a:solidFill>
            <a:srgbClr val="003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509760" y="0"/>
            <a:ext cx="54864" cy="8229600"/>
          </a:xfrm>
          <a:prstGeom prst="rect">
            <a:avLst/>
          </a:prstGeom>
          <a:solidFill>
            <a:srgbClr val="002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601200" y="0"/>
            <a:ext cx="54864" cy="8229600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692640" y="0"/>
            <a:ext cx="4937760" cy="8229600"/>
          </a:xfrm>
          <a:prstGeom prst="rect">
            <a:avLst/>
          </a:prstGeom>
          <a:solidFill>
            <a:srgbClr val="04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430000" y="3200400"/>
            <a:ext cx="5943600" cy="5943600"/>
          </a:xfrm>
          <a:prstGeom prst="ellipse">
            <a:avLst/>
          </a:prstGeom>
          <a:solidFill>
            <a:srgbClr val="00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87200" y="3840480"/>
            <a:ext cx="5029200" cy="5029200"/>
          </a:xfrm>
          <a:prstGeom prst="ellipse">
            <a:avLst/>
          </a:prstGeom>
          <a:solidFill>
            <a:srgbClr val="0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435840" y="4480560"/>
            <a:ext cx="3840480" cy="3840480"/>
          </a:xfrm>
          <a:prstGeom prst="ellipse">
            <a:avLst/>
          </a:prstGeom>
          <a:solidFill>
            <a:srgbClr val="00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97280" y="320040"/>
            <a:ext cx="475488" cy="475488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2920" y="713232"/>
            <a:ext cx="292608" cy="292608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828800" y="228600"/>
            <a:ext cx="182880" cy="182880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137160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Thank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2359152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77CC"/>
                </a:solidFill>
                <a:latin typeface="Calibri"/>
              </a:rPr>
              <a:t>You!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401568"/>
            <a:ext cx="502920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6928" y="4114800"/>
            <a:ext cx="5943600" cy="65836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4169663"/>
            <a:ext cx="5833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🎤   We'd love to answer your questions!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21240" y="1234440"/>
            <a:ext cx="4343400" cy="5120640"/>
          </a:xfrm>
          <a:prstGeom prst="rect">
            <a:avLst/>
          </a:prstGeom>
          <a:solidFill>
            <a:srgbClr val="061020"/>
          </a:solidFill>
          <a:ln w="12700">
            <a:solidFill>
              <a:srgbClr val="10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921240" y="1234440"/>
            <a:ext cx="4343400" cy="457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12680" y="1298448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7CC"/>
                </a:solidFill>
                <a:latin typeface="Calibri"/>
              </a:rPr>
              <a:t>PRESENTED BY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12680" y="1691640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012680" y="1691640"/>
            <a:ext cx="64008" cy="6858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68128" y="174650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77CC"/>
                </a:solidFill>
                <a:latin typeface="Calibri"/>
              </a:rPr>
              <a:t>Hamiz</a:t>
            </a:r>
            <a:r>
              <a:rPr lang="en-IN" sz="1400" b="1" i="0" dirty="0">
                <a:solidFill>
                  <a:srgbClr val="0077CC"/>
                </a:solidFill>
                <a:latin typeface="Calibri"/>
              </a:rPr>
              <a:t> K</a:t>
            </a:r>
            <a:endParaRPr sz="1400" b="1" i="0" dirty="0">
              <a:solidFill>
                <a:srgbClr val="0077CC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168128" y="2075688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AA"/>
                </a:solidFill>
                <a:latin typeface="Calibri"/>
              </a:rPr>
              <a:t>Team Lead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12680" y="2441448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012680" y="2441448"/>
            <a:ext cx="64008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68128" y="24963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Karishma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68128" y="2825496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AA"/>
                </a:solidFill>
                <a:latin typeface="Calibri"/>
              </a:rPr>
              <a:t>Data Analyst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12680" y="3191256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012680" y="3191256"/>
            <a:ext cx="64008" cy="685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168128" y="32461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E44AD"/>
                </a:solidFill>
                <a:latin typeface="Calibri"/>
              </a:rPr>
              <a:t>Vennela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68128" y="3575304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AA"/>
                </a:solidFill>
                <a:latin typeface="Calibri"/>
              </a:rPr>
              <a:t>Data Analyst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12680" y="3941064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012680" y="3941064"/>
            <a:ext cx="64008" cy="6858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168128" y="39959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5400"/>
                </a:solidFill>
                <a:latin typeface="Calibri"/>
              </a:rPr>
              <a:t>Aman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68128" y="4325112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AA"/>
                </a:solidFill>
                <a:latin typeface="Calibri"/>
              </a:rPr>
              <a:t>Data Analyst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12680" y="4690872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012680" y="4690872"/>
            <a:ext cx="64008" cy="685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168128" y="474573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Calibri"/>
              </a:rPr>
              <a:t>Gajavadan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68128" y="5074920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AA"/>
                </a:solidFill>
                <a:latin typeface="Calibri"/>
              </a:rPr>
              <a:t>Member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5833872"/>
            <a:ext cx="14630400" cy="2167128"/>
          </a:xfrm>
          <a:prstGeom prst="rect">
            <a:avLst/>
          </a:prstGeom>
          <a:solidFill>
            <a:srgbClr val="05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0" y="5833872"/>
            <a:ext cx="14630400" cy="411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66928" y="6473952"/>
            <a:ext cx="3291840" cy="502920"/>
          </a:xfrm>
          <a:prstGeom prst="rect">
            <a:avLst/>
          </a:prstGeom>
          <a:solidFill>
            <a:srgbClr val="081428"/>
          </a:solidFill>
          <a:ln w="6350">
            <a:solidFill>
              <a:srgbClr val="12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8368" y="6510528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📁  Master Dataset (36 States)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23360" y="6473952"/>
            <a:ext cx="3291840" cy="502920"/>
          </a:xfrm>
          <a:prstGeom prst="rect">
            <a:avLst/>
          </a:prstGeom>
          <a:solidFill>
            <a:srgbClr val="081428"/>
          </a:solidFill>
          <a:ln w="6350">
            <a:solidFill>
              <a:srgbClr val="12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114800" y="6510528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📊  Power BI Dashboard (5 Pages)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79792" y="6473952"/>
            <a:ext cx="3291840" cy="502920"/>
          </a:xfrm>
          <a:prstGeom prst="rect">
            <a:avLst/>
          </a:prstGeom>
          <a:solidFill>
            <a:srgbClr val="081428"/>
          </a:solidFill>
          <a:ln w="6350">
            <a:solidFill>
              <a:srgbClr val="12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571232" y="6510528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📄  Final PPT Report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936224" y="6473952"/>
            <a:ext cx="3291840" cy="502920"/>
          </a:xfrm>
          <a:prstGeom prst="rect">
            <a:avLst/>
          </a:prstGeom>
          <a:solidFill>
            <a:srgbClr val="081428"/>
          </a:solidFill>
          <a:ln w="6350">
            <a:solidFill>
              <a:srgbClr val="12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027664" y="6510528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🗂️  GitHub Repository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8138160"/>
            <a:ext cx="14630400" cy="9144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2585926" y="160020"/>
            <a:ext cx="1645920" cy="658368"/>
          </a:xfrm>
          <a:prstGeom prst="rect">
            <a:avLst/>
          </a:prstGeom>
          <a:solidFill>
            <a:srgbClr val="001A4E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1567160" y="182880"/>
            <a:ext cx="64008" cy="65836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1567160" y="800100"/>
            <a:ext cx="2880360" cy="411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08CFC1-FA20-F6B5-9520-11FDA4B1285E}"/>
              </a:ext>
            </a:extLst>
          </p:cNvPr>
          <p:cNvSpPr txBox="1"/>
          <p:nvPr/>
        </p:nvSpPr>
        <p:spPr>
          <a:xfrm>
            <a:off x="12966192" y="167152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1937</Words>
  <Application>Microsoft Office PowerPoint</Application>
  <PresentationFormat>Custom</PresentationFormat>
  <Paragraphs>468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Hamiz K</cp:lastModifiedBy>
  <cp:revision>11</cp:revision>
  <dcterms:created xsi:type="dcterms:W3CDTF">2013-01-27T09:14:16Z</dcterms:created>
  <dcterms:modified xsi:type="dcterms:W3CDTF">2026-02-25T12:19:08Z</dcterms:modified>
  <cp:category/>
</cp:coreProperties>
</file>