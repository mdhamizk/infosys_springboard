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72" r:id="rId4"/>
    <p:sldId id="259" r:id="rId5"/>
    <p:sldId id="273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20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77824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32104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0392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9536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68680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77824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86968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961120" y="0"/>
            <a:ext cx="5669280" cy="8229600"/>
          </a:xfrm>
          <a:prstGeom prst="rect">
            <a:avLst/>
          </a:prstGeom>
          <a:solidFill>
            <a:srgbClr val="050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-2286000" y="3200400"/>
            <a:ext cx="6400800" cy="64008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-1645920" y="3840480"/>
            <a:ext cx="5120640" cy="512064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-100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271016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350240" y="685800"/>
            <a:ext cx="292608" cy="292608"/>
          </a:xfrm>
          <a:prstGeom prst="ellipse">
            <a:avLst/>
          </a:prstGeom>
          <a:solidFill>
            <a:srgbClr val="0055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344400" y="749808"/>
            <a:ext cx="201168" cy="20116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807440" y="228600"/>
            <a:ext cx="164592" cy="164592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75488" y="1170432"/>
            <a:ext cx="3474720" cy="2926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2064" y="1179576"/>
            <a:ext cx="31821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FFFFFF"/>
                </a:solidFill>
                <a:latin typeface="Calibri"/>
              </a:rPr>
              <a:t>DATA ANALYTICS PROJECT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" y="1600200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708096"/>
                </a:solidFill>
              </a:rPr>
              <a:t>ElectViz: Election Data</a:t>
            </a:r>
            <a:endParaRPr sz="4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56329" y="2208494"/>
            <a:ext cx="80467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b="1" i="1" dirty="0">
                <a:solidFill>
                  <a:srgbClr val="0070C0"/>
                </a:solidFill>
              </a:rPr>
              <a:t>Visualization for Media</a:t>
            </a:r>
            <a:endParaRPr sz="4400" b="1" i="0" dirty="0">
              <a:solidFill>
                <a:srgbClr val="0070C0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75488" y="3840480"/>
            <a:ext cx="4389120" cy="457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956048" y="3840480"/>
            <a:ext cx="3474720" cy="45720"/>
          </a:xfrm>
          <a:prstGeom prst="rect">
            <a:avLst/>
          </a:prstGeom>
          <a:solidFill>
            <a:srgbClr val="14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8046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7890AA"/>
                </a:solidFill>
                <a:latin typeface="Calibri"/>
              </a:rPr>
              <a:t>Power BI Analytics  ·  Lok Sabha · Vidhan Sabha · Bypoll  ·  1951–2025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6840" y="1234440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006840" y="1234440"/>
            <a:ext cx="82296" cy="1234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217152" y="1325880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077CC"/>
                </a:solidFill>
                <a:latin typeface="Calibri"/>
              </a:rPr>
              <a:t>36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1947672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States &amp; UTs Covered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2624328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06840" y="2624328"/>
            <a:ext cx="82296" cy="1234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17152" y="2715768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39C12"/>
                </a:solidFill>
                <a:latin typeface="Calibri"/>
              </a:rPr>
              <a:t>27,415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17152" y="33375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Election Records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4014216"/>
            <a:ext cx="5166360" cy="1234440"/>
          </a:xfrm>
          <a:prstGeom prst="rect">
            <a:avLst/>
          </a:prstGeom>
          <a:solidFill>
            <a:srgbClr val="071226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9006840" y="4014216"/>
            <a:ext cx="82296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217152" y="4105656"/>
            <a:ext cx="4846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27AE60"/>
                </a:solidFill>
                <a:latin typeface="Calibri"/>
              </a:rPr>
              <a:t>1951–2025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17152" y="4727448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890AA"/>
                </a:solidFill>
                <a:latin typeface="Calibri"/>
              </a:rPr>
              <a:t>Year Range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5788152"/>
            <a:ext cx="14630400" cy="225856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0" y="574243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02920" y="5852160"/>
            <a:ext cx="27432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TEAM MEMBERS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920" y="6181344"/>
            <a:ext cx="2542032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181344"/>
            <a:ext cx="254203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Hamiz 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K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(Team Lead)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27832" y="6181344"/>
            <a:ext cx="1389888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227832" y="6181344"/>
            <a:ext cx="13898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Karishma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N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4800600" y="6181344"/>
            <a:ext cx="1280160" cy="38404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80060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Vennela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P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263640" y="6181344"/>
            <a:ext cx="128016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263640" y="6181344"/>
            <a:ext cx="128016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Aman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A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726680" y="6181344"/>
            <a:ext cx="1517904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726680" y="6181344"/>
            <a:ext cx="151790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Gajavadan</a:t>
            </a:r>
            <a:r>
              <a:rPr lang="en-IN" sz="1400" b="1" i="0" dirty="0">
                <a:solidFill>
                  <a:srgbClr val="FFFFFF"/>
                </a:solidFill>
                <a:latin typeface="Calibri"/>
              </a:rPr>
              <a:t> T</a:t>
            </a:r>
            <a:endParaRPr sz="11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424160" y="5897880"/>
            <a:ext cx="3749039" cy="1481328"/>
          </a:xfrm>
          <a:prstGeom prst="rect">
            <a:avLst/>
          </a:prstGeom>
          <a:solidFill>
            <a:srgbClr val="071226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41148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41148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E6385EDE-9CAD-C2A0-6650-F090FA46D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6407" y="5982965"/>
            <a:ext cx="3096394" cy="12664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" y="12192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0C4DE"/>
                </a:solidFill>
                <a:latin typeface="Calibri"/>
              </a:rPr>
              <a:t>Why does the </a:t>
            </a:r>
            <a:r>
              <a:rPr lang="en-IN" sz="1400" b="0" i="0" dirty="0">
                <a:solidFill>
                  <a:srgbClr val="B0C4DE"/>
                </a:solidFill>
                <a:latin typeface="Calibri"/>
              </a:rPr>
              <a:t>dataset</a:t>
            </a:r>
            <a:r>
              <a:rPr sz="1400" b="0" i="0" dirty="0">
                <a:solidFill>
                  <a:srgbClr val="B0C4DE"/>
                </a:solidFill>
                <a:latin typeface="Calibri"/>
              </a:rPr>
              <a:t> need a unified election analytics system?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Fragmented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Data spread across 36+ portals, formats, and state archives with no unified access point.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77056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77056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877056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⚠️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05072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Data Inconsistency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41648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Column names, encodings, and abbreviations differ drastically across elections and years.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96912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296912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29691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4928" y="1956816"/>
            <a:ext cx="3035808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 dirty="0">
                <a:solidFill>
                  <a:srgbClr val="0A1A44"/>
                </a:solidFill>
                <a:latin typeface="Calibri"/>
              </a:rPr>
              <a:t>Not </a:t>
            </a:r>
            <a:r>
              <a:rPr lang="en-IN" sz="1600" b="1" i="0" dirty="0">
                <a:solidFill>
                  <a:srgbClr val="0A1A44"/>
                </a:solidFill>
                <a:latin typeface="Calibri"/>
              </a:rPr>
              <a:t>Media</a:t>
            </a:r>
            <a:r>
              <a:rPr sz="1600" b="1" i="0" dirty="0">
                <a:solidFill>
                  <a:srgbClr val="0A1A44"/>
                </a:solidFill>
                <a:latin typeface="Calibri"/>
              </a:rPr>
              <a:t>-Ready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1504" y="2340864"/>
            <a:ext cx="296265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2230"/>
                </a:solidFill>
                <a:latin typeface="Calibri"/>
              </a:rPr>
              <a:t>Raw CSVs cannot support live broadcast use, real-time filtering, or anchor-friendly views.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716768" y="1261872"/>
            <a:ext cx="3291840" cy="37947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0716768" y="1261872"/>
            <a:ext cx="3291840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716768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1A2230"/>
                </a:solidFill>
                <a:latin typeface="Calibri"/>
              </a:rPr>
              <a:t>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44784" y="1956816"/>
            <a:ext cx="3035808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1A44"/>
                </a:solidFill>
                <a:latin typeface="Calibri"/>
              </a:rPr>
              <a:t>No Unified 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2340864"/>
            <a:ext cx="296265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1A2230"/>
                </a:solidFill>
                <a:latin typeface="Calibri"/>
              </a:rPr>
              <a:t>Cross-analysis of L</a:t>
            </a:r>
            <a:r>
              <a:rPr lang="en-IN" sz="1400" b="0" i="0" dirty="0">
                <a:solidFill>
                  <a:srgbClr val="1A2230"/>
                </a:solidFill>
                <a:latin typeface="Calibri"/>
              </a:rPr>
              <a:t>ok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V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idhan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S</a:t>
            </a:r>
            <a:r>
              <a:rPr lang="en-IN" sz="1400" b="0" i="0" dirty="0" err="1">
                <a:solidFill>
                  <a:srgbClr val="1A2230"/>
                </a:solidFill>
                <a:latin typeface="Calibri"/>
              </a:rPr>
              <a:t>abha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+ </a:t>
            </a:r>
            <a:r>
              <a:rPr sz="14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400" b="0" i="0" dirty="0">
                <a:solidFill>
                  <a:srgbClr val="1A2230"/>
                </a:solidFill>
                <a:latin typeface="Calibri"/>
              </a:rPr>
              <a:t> is impossible without consolidation into one model.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30368"/>
            <a:ext cx="13716000" cy="960120"/>
          </a:xfrm>
          <a:prstGeom prst="rect">
            <a:avLst/>
          </a:prstGeom>
          <a:solidFill>
            <a:srgbClr val="0A1A44"/>
          </a:solidFill>
          <a:ln w="1905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57200" y="5230368"/>
            <a:ext cx="82296" cy="9601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8368" y="5321808"/>
            <a:ext cx="1335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7CC"/>
                </a:solidFill>
                <a:latin typeface="Calibri"/>
              </a:rPr>
              <a:t>GOAL:  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Build a unified election analytics system that enables fast, accurate insights for media teams — covering all 36 states, all election types, 1951 to 2025.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55080"/>
            <a:ext cx="1371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0077CC"/>
                </a:solidFill>
                <a:latin typeface="Calibri"/>
              </a:rPr>
              <a:t>Raw election data → Broken.  We turned it into a unified analytics system.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System Architecture </a:t>
            </a:r>
            <a:r>
              <a:rPr lang="en-IN" dirty="0"/>
              <a:t>-</a:t>
            </a:r>
            <a:r>
              <a:rPr dirty="0"/>
              <a:t> Election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SOURCES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ECI Portal</a:t>
            </a:r>
            <a:br/>
            <a:r>
              <a:t>(eci.gov.in)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State Election</a:t>
            </a:r>
            <a:br/>
            <a:r>
              <a:t>Commissions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371600"/>
            <a:ext cx="201168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FC3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Historical</a:t>
            </a:r>
            <a:br/>
            <a:r>
              <a:t>Archives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39312" y="21031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Isosceles Triangle 8"/>
          <p:cNvSpPr/>
          <p:nvPr/>
        </p:nvSpPr>
        <p:spPr>
          <a:xfrm>
            <a:off x="3566160" y="2377439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DATA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Data Cleaning</a:t>
            </a:r>
            <a:br/>
            <a:r>
              <a:t>&amp; Pre-processing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Isosceles Triangle 12"/>
          <p:cNvSpPr/>
          <p:nvPr/>
        </p:nvSpPr>
        <p:spPr>
          <a:xfrm rot="5400000">
            <a:off x="299923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46120" y="3017520"/>
            <a:ext cx="219456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Standardization</a:t>
            </a:r>
            <a:br/>
            <a:r>
              <a:t>(14-col Schema)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4107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Isosceles Triangle 15"/>
          <p:cNvSpPr/>
          <p:nvPr/>
        </p:nvSpPr>
        <p:spPr>
          <a:xfrm rot="5400000">
            <a:off x="5788152" y="33375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035040" y="3017520"/>
            <a:ext cx="237744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Party Name</a:t>
            </a:r>
            <a:br/>
            <a:r>
              <a:t>Normalization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9319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Isosceles Triangle 18"/>
          <p:cNvSpPr/>
          <p:nvPr/>
        </p:nvSpPr>
        <p:spPr>
          <a:xfrm>
            <a:off x="4206240" y="42062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44805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INTEGRATION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Merge 36 States</a:t>
            </a:r>
            <a:br/>
            <a:r>
              <a:t>+ Bypoll + LS/VS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5239512"/>
            <a:ext cx="3200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Isosceles Triangle 22"/>
          <p:cNvSpPr/>
          <p:nvPr/>
        </p:nvSpPr>
        <p:spPr>
          <a:xfrm rot="5400000">
            <a:off x="3547871" y="51663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3840480" y="4846320"/>
            <a:ext cx="274320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8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Master Dataset</a:t>
            </a:r>
            <a:br/>
            <a:r>
              <a:t>(CSV)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102352" y="5760720"/>
            <a:ext cx="36576" cy="3200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Isosceles Triangle 25"/>
          <p:cNvSpPr/>
          <p:nvPr/>
        </p:nvSpPr>
        <p:spPr>
          <a:xfrm>
            <a:off x="5029200" y="6035040"/>
            <a:ext cx="182880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309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ANALYTICS LAYER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675120"/>
            <a:ext cx="2560320" cy="8229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Power BI</a:t>
            </a:r>
            <a:br/>
            <a:r>
              <a:t>Data Model</a:t>
            </a:r>
            <a:br/>
            <a:r>
              <a:t>(Star Schema)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1005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DASHBOARD OUTPUTS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137160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M2: Historical Trends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86800" y="214884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M3: Real-Time Results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292608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M4: Turnout &amp; Demographics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3703320"/>
            <a:ext cx="4114800" cy="59436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007A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M5: Party &amp; Candidate Tracker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08960" y="7068312"/>
            <a:ext cx="534924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Isosceles Triangle 34"/>
          <p:cNvSpPr/>
          <p:nvPr/>
        </p:nvSpPr>
        <p:spPr>
          <a:xfrm rot="5400000">
            <a:off x="8394192" y="6995160"/>
            <a:ext cx="201168" cy="182880"/>
          </a:xfrm>
          <a:prstGeom prst="triangle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7223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900" b="0">
                <a:solidFill>
                  <a:srgbClr val="BBBBBB"/>
                </a:solidFill>
                <a:latin typeface="Segoe UI"/>
              </a:defRPr>
            </a:pPr>
            <a:r>
              <a:t>Feeds into all dashboards 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4754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1">
                <a:solidFill>
                  <a:srgbClr val="FFD54F"/>
                </a:solidFill>
                <a:latin typeface="Segoe UI"/>
              </a:defRPr>
            </a:pPr>
            <a:r>
              <a:t>FINAL OUTPUTS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8680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📁 Master</a:t>
            </a:r>
            <a:br/>
            <a:r>
              <a:t>Dataset CSV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89920" y="512064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📊 Power BI</a:t>
            </a:r>
            <a:br/>
            <a:r>
              <a:t>Report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68680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📄 Final PPT</a:t>
            </a:r>
            <a:br/>
            <a:r>
              <a:t>Report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789920" y="5943600"/>
            <a:ext cx="192024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🗂️ GitHub</a:t>
            </a:r>
            <a:br/>
            <a:r>
              <a:t>Repository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6858000"/>
            <a:ext cx="4114800" cy="64008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📺 Media Insights / Analysis Outputs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Project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End-to-end scope of what this project delivers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6625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26625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93634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936353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6353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Data Integration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54641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Combine election datasets for 36 States + UTs into one master model with standardised schema.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88113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88113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676071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7841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7841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Multi-Type Coverage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6129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Integrate Lok Sabha + Vidhan Sabha + Bypoll elections into a single unified pipeline.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9601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9601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37559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9329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9329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Power BI 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77617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Build 5 interactive, filterable dashboard pages for full election coverage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111089" y="1261872"/>
            <a:ext cx="2670048" cy="374903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0111089" y="1261872"/>
            <a:ext cx="2670048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220820" y="1371600"/>
            <a:ext cx="502920" cy="5029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20817" y="13716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0817" y="1975104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1A44"/>
                </a:solidFill>
                <a:latin typeface="Calibri"/>
              </a:rPr>
              <a:t>Trend &amp; Performance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39105" y="2340864"/>
            <a:ext cx="241401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2230"/>
                </a:solidFill>
                <a:latin typeface="Calibri"/>
              </a:rPr>
              <a:t>Analyse party trends, turnout, demographics across all elections from 1951 to 2025.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5230368"/>
            <a:ext cx="13789152" cy="248716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11480" y="5230368"/>
            <a:ext cx="1378915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94360" y="532180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7CC"/>
                </a:solidFill>
                <a:latin typeface="Calibri"/>
              </a:rPr>
              <a:t>Project Deliverables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4360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594360" y="5669280"/>
            <a:ext cx="64008" cy="178308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58952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0077CC"/>
                </a:solidFill>
                <a:latin typeface="Calibri"/>
              </a:rPr>
              <a:t>Master Dataset CSV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Unified 36-state cleaned dataset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995928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95928" y="5669280"/>
            <a:ext cx="64008" cy="1783080"/>
          </a:xfrm>
          <a:prstGeom prst="rect">
            <a:avLst/>
          </a:prstGeom>
          <a:solidFill>
            <a:srgbClr val="2776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160520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76BF"/>
                </a:solidFill>
                <a:latin typeface="Calibri"/>
              </a:rPr>
              <a:t>Power BI 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160520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5 interactive pages, full drill-down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97496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7397496" y="5669280"/>
            <a:ext cx="64008" cy="1783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562088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27AE60"/>
                </a:solidFill>
                <a:latin typeface="Calibri"/>
              </a:rPr>
              <a:t>Final PPT Report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16-slide trial + final versions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99064" y="5669280"/>
            <a:ext cx="324612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10799064" y="5669280"/>
            <a:ext cx="64008" cy="1783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963656" y="5742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8E44AD"/>
                </a:solidFill>
                <a:latin typeface="Calibri"/>
              </a:rPr>
              <a:t>GitHub </a:t>
            </a:r>
            <a:r>
              <a:rPr lang="en-IN" sz="1600" b="1" i="0" dirty="0">
                <a:solidFill>
                  <a:srgbClr val="8E44AD"/>
                </a:solidFill>
                <a:latin typeface="Calibri"/>
              </a:rPr>
              <a:t>Repository</a:t>
            </a:r>
            <a:endParaRPr sz="1600" b="1" i="0" dirty="0">
              <a:solidFill>
                <a:srgbClr val="8E44AD"/>
              </a:solidFill>
              <a:latin typeface="Calibri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963656" y="6089904"/>
            <a:ext cx="301752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708096"/>
                </a:solidFill>
                <a:latin typeface="Calibri"/>
              </a:rPr>
              <a:t>All scripts, data, docs committed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777240"/>
          </a:xfrm>
          <a:prstGeom prst="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Project Milestones </a:t>
            </a:r>
            <a:r>
              <a:rPr lang="en-IN" dirty="0"/>
              <a:t>-</a:t>
            </a:r>
            <a:r>
              <a:rPr dirty="0"/>
              <a:t> Timeline &amp; Deliverables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8872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Data Integration</a:t>
            </a:r>
            <a:br/>
            <a:r>
              <a:t>&amp;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1-2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14-column schema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36-state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name standardization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154679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77639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Historical Trends</a:t>
            </a:r>
            <a:br/>
            <a:r>
              <a:t>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39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3-4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39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Trend analysis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State-wise comparisons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3756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Year-over-year views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76656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Real-Time Results</a:t>
            </a:r>
            <a:br/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5-6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Live results 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Seat tally 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Leading candidate tracker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3252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5548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Turnout &amp;</a:t>
            </a:r>
            <a:br/>
            <a:r>
              <a:t>Demographics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7-8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Voter turnout maps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1540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Urban vs Rural split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Demographic overlays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21440" y="1005840"/>
            <a:ext cx="2651760" cy="6217920"/>
          </a:xfrm>
          <a:prstGeom prst="roundRect">
            <a:avLst/>
          </a:prstGeom>
          <a:solidFill>
            <a:srgbClr val="141E30"/>
          </a:solidFill>
          <a:ln w="1905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2344400" y="1143000"/>
            <a:ext cx="914400" cy="9144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58600" y="219456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Party &amp; Candidate</a:t>
            </a:r>
            <a:br/>
            <a:r>
              <a:t>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58600" y="2880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4FC3F7"/>
                </a:solidFill>
                <a:latin typeface="Segoe UI"/>
              </a:defRPr>
            </a:pPr>
            <a:r>
              <a:t>Weeks 9-10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887200" y="3246120"/>
            <a:ext cx="1828800" cy="3200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✅ Completed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04320" y="374903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Performance tracker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0" y="40416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Party comparison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0" y="433425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BBBBBB"/>
                </a:solidFill>
                <a:latin typeface="Segoe UI"/>
              </a:defRPr>
            </a:pPr>
            <a:r>
              <a:t>▸ Candidate win records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7726679"/>
            <a:ext cx="13716000" cy="1371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7772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800" b="0">
                <a:solidFill>
                  <a:srgbClr val="BBBBBB"/>
                </a:solidFill>
                <a:latin typeface="Segoe UI"/>
              </a:defRPr>
            </a:pPr>
            <a:r>
              <a:t>ElectViz: Election Data Visualization for Media  ·  Infosys Springboard  ·  February 2026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1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Data Integration &amp; Modeling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Merging, cleaning, and standardising 36 state datasets into one master model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806440" cy="65379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6537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56052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Completed — What Was Done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1664208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dirty="0">
                <a:solidFill>
                  <a:srgbClr val="1A2230"/>
                </a:solidFill>
                <a:latin typeface="Calibri"/>
              </a:rPr>
              <a:t>36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of 36 states merged  ·  1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Hamiz, 10 by Karishma,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15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by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3408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2231136"/>
            <a:ext cx="524865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LS + VS + </a:t>
            </a:r>
            <a:r>
              <a:rPr sz="12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integration started </a:t>
            </a:r>
            <a:r>
              <a:rPr lang="en-IN" sz="1200" dirty="0">
                <a:solidFill>
                  <a:srgbClr val="1A2230"/>
                </a:solidFill>
                <a:latin typeface="Calibri"/>
              </a:rPr>
              <a:t>,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all three types in one pipeline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90779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2798064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200+ party abbreviations expanded to full standardised names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" y="3381317"/>
            <a:ext cx="524865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Master CSV: 27,415 records · 14 standard columns · ready for Power BI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49224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3854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55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,</a:t>
            </a:r>
            <a:r>
              <a:rPr lang="en-IN" sz="2400" b="1" i="0" dirty="0">
                <a:solidFill>
                  <a:srgbClr val="0077CC"/>
                </a:solidFill>
                <a:latin typeface="Calibri"/>
              </a:rPr>
              <a:t>646</a:t>
            </a:r>
            <a:endParaRPr sz="2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63854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Total Records in Master 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0" y="126187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0515600" y="1261872"/>
            <a:ext cx="64008" cy="74980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661904" y="131673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0077CC"/>
                </a:solidFill>
                <a:latin typeface="Calibri"/>
              </a:rPr>
              <a:t>36</a:t>
            </a:r>
            <a:r>
              <a:rPr sz="2400" b="1" i="0" dirty="0">
                <a:solidFill>
                  <a:srgbClr val="0077CC"/>
                </a:solidFill>
                <a:latin typeface="Calibri"/>
              </a:rPr>
              <a:t> / 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61904" y="170078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States Merged (Phase 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49224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38544" y="218541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dirty="0">
                <a:solidFill>
                  <a:srgbClr val="276BBF"/>
                </a:solidFill>
                <a:latin typeface="Calibri"/>
              </a:rPr>
              <a:t>1009</a:t>
            </a:r>
            <a:endParaRPr sz="2400" b="1" i="0" dirty="0">
              <a:solidFill>
                <a:srgbClr val="276BBF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63854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Bypoll Records Integrated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515600" y="213055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0515600" y="2130552"/>
            <a:ext cx="64008" cy="74980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661904" y="218541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6BBF"/>
                </a:solidFill>
                <a:latin typeface="Calibri"/>
              </a:rPr>
              <a:t>194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61904" y="256946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Unique Party Codes Standardised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9224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38544" y="3054096"/>
            <a:ext cx="36393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27AE60"/>
                </a:solidFill>
                <a:latin typeface="Calibri"/>
              </a:rPr>
              <a:t>1951</a:t>
            </a:r>
            <a:r>
              <a:rPr lang="en-IN" sz="2400" b="1" i="0" dirty="0">
                <a:solidFill>
                  <a:srgbClr val="27AE60"/>
                </a:solidFill>
                <a:latin typeface="Calibri"/>
              </a:rPr>
              <a:t>-</a:t>
            </a:r>
            <a:r>
              <a:rPr sz="2400" b="1" i="0" dirty="0">
                <a:solidFill>
                  <a:srgbClr val="27AE60"/>
                </a:solidFill>
                <a:latin typeface="Calibri"/>
              </a:rPr>
              <a:t>2025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3854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Year Range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515600" y="2999232"/>
            <a:ext cx="3840480" cy="74980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515600" y="2999232"/>
            <a:ext cx="64008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661904" y="3054096"/>
            <a:ext cx="3639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7AE60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61904" y="3438144"/>
            <a:ext cx="36393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708096"/>
                </a:solidFill>
                <a:latin typeface="Calibri"/>
              </a:rPr>
              <a:t>Election Types Covered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977639"/>
            <a:ext cx="7818120" cy="3794760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1" name="Rectangle 50"/>
          <p:cNvSpPr/>
          <p:nvPr/>
        </p:nvSpPr>
        <p:spPr>
          <a:xfrm>
            <a:off x="6492240" y="3977639"/>
            <a:ext cx="82296" cy="379476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ED0E8891-BDF3-E3A8-09AD-90564B7C7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1" y="3776473"/>
            <a:ext cx="13956891" cy="42519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2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Historical Trends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Year-wise election trends · Party seat performance · Constituency result patterns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Year-wise election trends from 1951 to 2025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Party-wise seat performance over every decade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Constituency result patterns with drill-down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Interactive YEAR slicer and STATE filter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trend line chart across elections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 comparison: Lok Sabha vs Vidhan Sabha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Historical Trends Dashboard  ·  Party Performance by Year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28032" y="1691640"/>
            <a:ext cx="1051560" cy="4956048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46320" y="17465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YEAR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2002536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873752" y="203911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1952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46320" y="2350008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73752" y="238658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1962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269748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873752" y="273405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1977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46320" y="3044952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873752" y="308152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1984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846320" y="3392424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873752" y="342900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1991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3739896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73752" y="3776472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2004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087368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873752" y="4123944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2009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4434840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73752" y="4471416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2014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846320" y="4782312"/>
            <a:ext cx="914400" cy="256032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873752" y="4818888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2019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46320" y="5129784"/>
            <a:ext cx="914400" cy="25603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4873752" y="5166360"/>
            <a:ext cx="822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77CC"/>
                </a:solidFill>
                <a:latin typeface="Calibri"/>
              </a:rPr>
              <a:t>2024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961888" y="1709928"/>
            <a:ext cx="8092440" cy="32004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035040" y="1764792"/>
            <a:ext cx="9418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 WINS — TOP 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35040" y="200253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973568" y="2050084"/>
            <a:ext cx="6217920" cy="142646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6035040" y="22951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73568" y="234269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7973568" y="2342692"/>
            <a:ext cx="3098094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1117382" y="22951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035040" y="258775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973568" y="2635300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973568" y="2635300"/>
            <a:ext cx="921357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940645" y="258775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035040" y="288036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73568" y="2927908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7973568" y="2927908"/>
            <a:ext cx="900248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919536" y="288036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035040" y="317296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973568" y="3220516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7973568" y="3220516"/>
            <a:ext cx="62334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642632" y="31729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035040" y="346557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973568" y="3513124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973568" y="3513124"/>
            <a:ext cx="485513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504801" y="346557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35040" y="375818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73568" y="3805732"/>
            <a:ext cx="62179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973568" y="3805732"/>
            <a:ext cx="330918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350206" y="375818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961888" y="5001768"/>
            <a:ext cx="8092440" cy="157276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6035040" y="505663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WINNING VOTE TRENDS ACROSS ELECTIONS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helps anchors analyse historical swing seats and track how dominant parties rose or fell across decades.</a:t>
            </a:r>
          </a:p>
        </p:txBody>
      </p:sp>
      <p:pic>
        <p:nvPicPr>
          <p:cNvPr id="7" name="Picture 6" descr="M2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884" y="1248156"/>
            <a:ext cx="9474036" cy="54596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3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Real-Time Results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Live-style seat tally · Vote % bars · Party filters · Swing seat identification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Prototype Stage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Live-style seat count updates as results arrive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31136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21408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Vote percentage bars per constituency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06624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596896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1A2230"/>
                </a:solidFill>
                <a:latin typeface="Calibri"/>
              </a:rPr>
              <a:t>Party filter slicers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182112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072384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Swing seat identification (close margins highlighted)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657600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547872"/>
            <a:ext cx="367588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Colour-coded leading / trailing party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13308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4023360"/>
            <a:ext cx="36758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State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-level tally card </a:t>
            </a:r>
            <a:r>
              <a:rPr lang="en-IN" sz="12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1A2230"/>
                </a:solidFill>
                <a:latin typeface="Calibri"/>
              </a:rPr>
              <a:t> instant overview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LIVE RESULT TRACKER  ·  Party Seat Tally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864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64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77CC"/>
                </a:solidFill>
                <a:latin typeface="Calibri"/>
              </a:rPr>
              <a:t>543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64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Total Seats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50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150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0392B"/>
                </a:solidFill>
                <a:latin typeface="Calibri"/>
              </a:rPr>
              <a:t>272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50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Majority Mark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436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436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AE60"/>
                </a:solidFill>
                <a:latin typeface="Calibri"/>
              </a:rPr>
              <a:t>INC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36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Lead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722608" y="1709928"/>
            <a:ext cx="2176272" cy="685800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1722608" y="1764792"/>
            <a:ext cx="21762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722608" y="2112264"/>
            <a:ext cx="21762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08096"/>
                </a:solidFill>
                <a:latin typeface="Calibri"/>
              </a:rPr>
              <a:t>Simulated 2nd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92040" y="2514600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892040" y="2514600"/>
            <a:ext cx="5220331" cy="32918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956048" y="257860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Indian National Congress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0" y="2578608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310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92040" y="2935224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892040" y="2935224"/>
            <a:ext cx="3367955" cy="32918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956048" y="299923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Bharatiya Janata Party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0" y="2999232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200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892040" y="3355848"/>
            <a:ext cx="9144000" cy="329184"/>
          </a:xfrm>
          <a:prstGeom prst="rect">
            <a:avLst/>
          </a:prstGeom>
          <a:solidFill>
            <a:srgbClr val="121E38"/>
          </a:solidFill>
          <a:ln w="381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892040" y="3355848"/>
            <a:ext cx="555712" cy="32918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956048" y="341985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Regional / Others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3716000" y="3419856"/>
            <a:ext cx="3474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33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64608" y="3840480"/>
            <a:ext cx="9198864" cy="276148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956048" y="390448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RESULT DETAILS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01184" y="416052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State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64224" y="41605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84464" y="4160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Leading Candidate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570464" y="4160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Party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673584" y="416052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Margin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4398264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01184" y="441655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Andhra Pradesh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64224" y="4416552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Ongole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84464" y="4416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Maganti M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570464" y="441655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TDP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673584" y="441655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12,450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864608" y="4645152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901184" y="4663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Bihar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64224" y="466344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Patna Sahib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284464" y="466344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R S Prasad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570464" y="466344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673584" y="4663440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95,210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864608" y="4892040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4901184" y="491032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Delhi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64224" y="491032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New Delhi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284464" y="4910328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Meenakshi 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570464" y="49103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673584" y="4910328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78,300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864608" y="5138928"/>
            <a:ext cx="9198864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901184" y="51572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Gujarat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64224" y="515721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Gandhinagar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284464" y="5157216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Amit Shah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570464" y="51572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673584" y="5157216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557,014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864608" y="5385816"/>
            <a:ext cx="9198864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4901184" y="540410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MP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540410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Indore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84464" y="5404104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K Vijayvargiya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570464" y="540410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BJP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673584" y="5404104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D8EA"/>
                </a:solidFill>
                <a:latin typeface="Calibri"/>
              </a:rPr>
              <a:t>1,043,000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lets anchors stream live constituency results, spotlight swing seats, and filter by party or state on air.</a:t>
            </a:r>
          </a:p>
        </p:txBody>
      </p:sp>
      <p:pic>
        <p:nvPicPr>
          <p:cNvPr id="98" name="Picture 97" descr="M3 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43584"/>
            <a:ext cx="9464040" cy="5519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4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Turnout &amp; Demographics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Gender · Category · State turnout · Urban vs Rural classification (in progress)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5564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4592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Gender winners: Male 94.4%  ·  Female 5.6%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4942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3969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Category split: General 74% · ST 15% · SC 10%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4320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3347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average voter turnout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3697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2724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constituencies by turnout identified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3075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2102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Decade-wise participation trend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572000"/>
            <a:ext cx="4160520" cy="214884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4572000"/>
            <a:ext cx="64008" cy="2148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4360" y="464515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39C12"/>
                </a:solidFill>
                <a:latin typeface="Calibri"/>
              </a:rPr>
              <a:t>🔧 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09320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4672" y="498348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Urban vs Rural tagging using Census 2011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596128"/>
            <a:ext cx="73152" cy="7315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4672" y="5486400"/>
            <a:ext cx="367588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Cross-filter with party performance layer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VOTER TURNOUT &amp; DEMOGRAPHICS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155680" y="1709928"/>
            <a:ext cx="28803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155680" y="1874520"/>
            <a:ext cx="2880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77CC"/>
                </a:solidFill>
                <a:latin typeface="Calibri"/>
              </a:rPr>
              <a:t>30.03%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256032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08096"/>
                </a:solidFill>
                <a:latin typeface="Calibri"/>
              </a:rPr>
              <a:t>Average Voter Turnout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2862072"/>
            <a:ext cx="2880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7AE60"/>
                </a:solidFill>
                <a:latin typeface="Calibri"/>
              </a:rPr>
              <a:t>Highest: Tripura  59.6%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1709928"/>
            <a:ext cx="274320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983480" y="17830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GENDER DISTRIBUTION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0" y="2093976"/>
            <a:ext cx="2423160" cy="2011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7316663" y="2093976"/>
            <a:ext cx="135696" cy="201168"/>
          </a:xfrm>
          <a:prstGeom prst="rect">
            <a:avLst/>
          </a:prstGeom>
          <a:solidFill>
            <a:srgbClr val="FF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0" y="235000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76BBF"/>
                </a:solidFill>
                <a:latin typeface="Calibri"/>
              </a:rPr>
              <a:t>Male 94.4%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2350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76BBF"/>
                </a:solidFill>
                <a:latin typeface="Calibri"/>
              </a:rPr>
              <a:t>25,885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0" y="2624328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9B4"/>
                </a:solidFill>
                <a:latin typeface="Calibri"/>
              </a:rPr>
              <a:t>Female 5.6%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62432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9B4"/>
                </a:solidFill>
                <a:latin typeface="Calibri"/>
              </a:rPr>
              <a:t> 1,530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818120" y="1709928"/>
            <a:ext cx="3337560" cy="1691640"/>
          </a:xfrm>
          <a:prstGeom prst="rect">
            <a:avLst/>
          </a:prstGeom>
          <a:solidFill>
            <a:srgbClr val="121E38"/>
          </a:solidFill>
          <a:ln w="635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09560" y="1783080"/>
            <a:ext cx="3108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CONSTITUENCY CATEGORY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09560" y="205740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General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23960" y="2112264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823960" y="2112264"/>
            <a:ext cx="1252733" cy="1097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561320" y="2057400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20,302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909560" y="24597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23960" y="2514600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823960" y="2514600"/>
            <a:ext cx="260888" cy="1097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561320" y="2459736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4,228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09560" y="286207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8EA"/>
                </a:solidFill>
                <a:latin typeface="Calibri"/>
              </a:rPr>
              <a:t>SC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23960" y="2916936"/>
            <a:ext cx="1691640" cy="109728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823960" y="2916936"/>
            <a:ext cx="170984" cy="10972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561320" y="286207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2,771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64608" y="3566160"/>
            <a:ext cx="9198864" cy="3035808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956048" y="36301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AVG TURNOUT % BY STATE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091836" y="4767337"/>
            <a:ext cx="543153" cy="1496303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495604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Tripura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997092" y="4784911"/>
            <a:ext cx="543153" cy="1478729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86130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Delhi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2348" y="4882823"/>
            <a:ext cx="543153" cy="1380817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676656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Goa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07604" y="4940567"/>
            <a:ext cx="543153" cy="1323073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67181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MP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712860" y="5083669"/>
            <a:ext cx="543153" cy="1179971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57707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Maha.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618116" y="5226772"/>
            <a:ext cx="543153" cy="103686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9482328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Bihar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523372" y="5372386"/>
            <a:ext cx="543153" cy="89125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0387584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Megh.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428628" y="5455235"/>
            <a:ext cx="543153" cy="808405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292840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Arunachal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2333884" y="5533063"/>
            <a:ext cx="543153" cy="730577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2198096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AP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3239140" y="5701271"/>
            <a:ext cx="543153" cy="562369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13103352" y="6318504"/>
            <a:ext cx="9052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0">
                <a:solidFill>
                  <a:srgbClr val="708096"/>
                </a:solidFill>
                <a:latin typeface="Calibri"/>
              </a:rPr>
              <a:t>J&amp;K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94360" y="6967728"/>
            <a:ext cx="1344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1A44"/>
                </a:solidFill>
                <a:latin typeface="Calibri"/>
              </a:rPr>
              <a:t>🎙  This page reveals which states and constituencies have the lowest turnout — critical for newsroom-produced voter engagement stories.</a:t>
            </a:r>
          </a:p>
        </p:txBody>
      </p:sp>
      <p:pic>
        <p:nvPicPr>
          <p:cNvPr id="90" name="Picture 89" descr="M4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34439"/>
            <a:ext cx="9418320" cy="5475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Milestone 5 </a:t>
            </a:r>
            <a:r>
              <a:rPr lang="en-IN" sz="3000" b="1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3000" b="1" i="0" dirty="0">
                <a:solidFill>
                  <a:srgbClr val="FFFFFF"/>
                </a:solidFill>
                <a:latin typeface="Calibri"/>
              </a:rPr>
              <a:t> Party &amp; Candidate Performance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State dominance · Win margins · Candidate re-elections · Alliance insights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4160520" cy="548640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64008" cy="5486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1307592"/>
            <a:ext cx="39593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✅  Delivered in Demo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1773936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1664208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State-wise party dominance mapping and heatmap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267712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2157984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Top 10 winning candidates by vote count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761488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4672" y="2651760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Win/loss margin analysis per constituency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55264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145536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Candidate re-election performance tracker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749040"/>
            <a:ext cx="73152" cy="7315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04672" y="3639312"/>
            <a:ext cx="36758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Alliance-level seat tally insights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2920" y="4736592"/>
            <a:ext cx="64008" cy="47548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922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 dirty="0">
                <a:solidFill>
                  <a:srgbClr val="0077CC"/>
                </a:solidFill>
                <a:latin typeface="Calibri"/>
              </a:rPr>
              <a:t>INC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10,015 wins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06040" y="4736592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06040" y="4736592"/>
            <a:ext cx="64008" cy="47548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52344" y="4773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6BBF"/>
                </a:solidFill>
                <a:latin typeface="Calibri"/>
              </a:rPr>
              <a:t>BJP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52344" y="497433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4,990 wins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02920" y="5303520"/>
            <a:ext cx="64008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7AE60"/>
                </a:solidFill>
                <a:latin typeface="Calibri"/>
              </a:rPr>
              <a:t>TDP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1,450 wins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606040" y="5303520"/>
            <a:ext cx="20116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06040" y="5303520"/>
            <a:ext cx="64008" cy="47548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534009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E44AD"/>
                </a:solidFill>
                <a:latin typeface="Calibri"/>
              </a:rPr>
              <a:t>INC(I)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52344" y="55412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8096"/>
                </a:solidFill>
                <a:latin typeface="Calibri"/>
              </a:rPr>
              <a:t>1,004 wins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818888" y="1298448"/>
            <a:ext cx="9418320" cy="5486400"/>
          </a:xfrm>
          <a:prstGeom prst="rect">
            <a:avLst/>
          </a:prstGeom>
          <a:solidFill>
            <a:srgbClr val="B8C4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4754880" y="1234440"/>
            <a:ext cx="9418320" cy="5486400"/>
          </a:xfrm>
          <a:prstGeom prst="rect">
            <a:avLst/>
          </a:prstGeom>
          <a:solidFill>
            <a:srgbClr val="0D1322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754880" y="1234440"/>
            <a:ext cx="94183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19472" y="1298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PARTY &amp; CANDIDATE PERFORMANCE  ·  Top Wins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710160" y="642823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[ See dashboard image → ]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92040" y="1709928"/>
            <a:ext cx="9144000" cy="3182112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965192" y="1764792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10 PARTIES BY ALL-TIME WINS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965192" y="202082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Indian National Congress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903720" y="206837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6903720" y="2068372"/>
            <a:ext cx="6594566" cy="18105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3473684" y="204237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 dirty="0">
                <a:solidFill>
                  <a:srgbClr val="708096"/>
                </a:solidFill>
                <a:latin typeface="Calibri"/>
              </a:rPr>
              <a:t>10,015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65192" y="23134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Bharatiya Janata Party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903720" y="236098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6903720" y="2360980"/>
            <a:ext cx="3553697" cy="142646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0503137" y="231343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4,990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965192" y="260604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Independent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903720" y="265358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6903720" y="2653588"/>
            <a:ext cx="1056851" cy="142646"/>
          </a:xfrm>
          <a:prstGeom prst="rect">
            <a:avLst/>
          </a:prstGeom>
          <a:solidFill>
            <a:srgbClr val="70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006291" y="26060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1,484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65192" y="289864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Telugu Desam Party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03720" y="294619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6903720" y="2946196"/>
            <a:ext cx="1032637" cy="14264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982077" y="289864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1,450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965192" y="319125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INC (I)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03720" y="323880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903720" y="3238804"/>
            <a:ext cx="715012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664452" y="31912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1,004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65192" y="348386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Party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03720" y="3531412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6903720" y="3531412"/>
            <a:ext cx="556912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7506352" y="34838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782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965192" y="377647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RJD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03720" y="3824020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6903720" y="3824020"/>
            <a:ext cx="404509" cy="14264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7353949" y="37764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568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65192" y="406908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CPI(M)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03720" y="4116628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6903720" y="4116628"/>
            <a:ext cx="379583" cy="142646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7329023" y="406908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533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965192" y="436168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Janata Dal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03720" y="4409236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6903720" y="4409236"/>
            <a:ext cx="376734" cy="142646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7326174" y="436168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529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965192" y="4654296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Shiv Sena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03720" y="4701844"/>
            <a:ext cx="7132320" cy="142646"/>
          </a:xfrm>
          <a:prstGeom prst="rect">
            <a:avLst/>
          </a:prstGeom>
          <a:solidFill>
            <a:srgbClr val="1A2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903720" y="4701844"/>
            <a:ext cx="335429" cy="14264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7284869" y="465429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708096"/>
                </a:solidFill>
                <a:latin typeface="Calibri"/>
              </a:rPr>
              <a:t>471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892040" y="4946903"/>
            <a:ext cx="9144000" cy="1664209"/>
          </a:xfrm>
          <a:prstGeom prst="rect">
            <a:avLst/>
          </a:prstGeom>
          <a:solidFill>
            <a:srgbClr val="121E38"/>
          </a:solidFill>
          <a:ln w="5080">
            <a:solidFill>
              <a:srgbClr val="1A2D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4965192" y="5001768"/>
            <a:ext cx="9418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708096"/>
                </a:solidFill>
                <a:latin typeface="Calibri"/>
              </a:rPr>
              <a:t>TOP CANDIDATES BY VOTES RECEIVED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937760" y="5257800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TextBox 92"/>
          <p:cNvSpPr txBox="1"/>
          <p:nvPr/>
        </p:nvSpPr>
        <p:spPr>
          <a:xfrm>
            <a:off x="4983480" y="5276088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Kailash Vijayvargiya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275320" y="5276088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738360" y="527608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1,734,313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937760" y="5504688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983480" y="5522976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Yogender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275320" y="5522976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738360" y="552297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1,480,000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937760" y="5751576"/>
            <a:ext cx="9144000" cy="228600"/>
          </a:xfrm>
          <a:prstGeom prst="rect">
            <a:avLst/>
          </a:prstGeom>
          <a:solidFill>
            <a:srgbClr val="121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4983480" y="5769864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Sushma Swaraj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75320" y="576986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738360" y="5769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1,120,000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937760" y="5998464"/>
            <a:ext cx="9144000" cy="228600"/>
          </a:xfrm>
          <a:prstGeom prst="rect">
            <a:avLst/>
          </a:prstGeom>
          <a:solidFill>
            <a:srgbClr val="0D13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4983480" y="6016752"/>
            <a:ext cx="3200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CD8EA"/>
                </a:solidFill>
                <a:latin typeface="Calibri"/>
              </a:rPr>
              <a:t>Rajnath Singh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275320" y="601675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708096"/>
                </a:solidFill>
                <a:latin typeface="Calibri"/>
              </a:rPr>
              <a:t>BJP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738360" y="60167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77CC"/>
                </a:solidFill>
                <a:latin typeface="Calibri"/>
              </a:rPr>
              <a:t>932,000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411480" y="6903720"/>
            <a:ext cx="13807440" cy="502920"/>
          </a:xfrm>
          <a:prstGeom prst="rect">
            <a:avLst/>
          </a:prstGeom>
          <a:solidFill>
            <a:srgbClr val="E8F2FA"/>
          </a:solidFill>
          <a:ln w="1270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594360" y="6967728"/>
            <a:ext cx="134416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1A44"/>
                </a:solidFill>
                <a:latin typeface="Calibri"/>
              </a:rPr>
              <a:t>  This page shows which parties dominate which states and which candidates attract the most votes </a:t>
            </a:r>
            <a:r>
              <a:rPr lang="en-IN" sz="1100" b="0" i="0" dirty="0">
                <a:solidFill>
                  <a:srgbClr val="0A1A44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0A1A44"/>
                </a:solidFill>
                <a:latin typeface="Calibri"/>
              </a:rPr>
              <a:t> perfect for election night analysis.</a:t>
            </a:r>
          </a:p>
        </p:txBody>
      </p:sp>
      <p:pic>
        <p:nvPicPr>
          <p:cNvPr id="111" name="Picture 110" descr="M5 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13322"/>
            <a:ext cx="9418320" cy="554126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Urban vs Rural Constituency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Census 2011 Urban-Rural Population Table · Metro, Semi-urban, Village seat tagging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13716000" cy="566928"/>
          </a:xfrm>
          <a:prstGeom prst="rect">
            <a:avLst/>
          </a:prstGeom>
          <a:solidFill>
            <a:srgbClr val="0A1A44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1234440"/>
            <a:ext cx="82296" cy="5669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1335024"/>
            <a:ext cx="1335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Method: Map each constituency's district to Census 2011 U-R population ratio  ·  Urban ≥60%  ·  Rural &lt;30%  ·  Semi-Urban in between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938528"/>
            <a:ext cx="4370832" cy="54864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5216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🏙️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7CC"/>
                </a:solidFill>
                <a:latin typeface="Calibri"/>
              </a:rPr>
              <a:t>Urban Constituencies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≥60% urban population
Covers: Delhi, Mumbai, Hyderabad, Bengaluru,
Kolkata, Chennai and metro areas
Higher turnout · Multi-party competition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10912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10912" y="1938528"/>
            <a:ext cx="4370832" cy="54864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38928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🏘️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BBF"/>
                </a:solidFill>
                <a:latin typeface="Calibri"/>
              </a:rPr>
              <a:t>Semi-Urban Constituencies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38928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30–60% urban population
Mainly tier-2 cities and district HQs
Classic swing seats — competitive across parties
Often decide state-level majorities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64624" y="1938528"/>
            <a:ext cx="4370832" cy="324612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64624" y="1938528"/>
            <a:ext cx="4370832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92640" y="2048256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2230"/>
                </a:solidFill>
                <a:latin typeface="Calibri"/>
              </a:rPr>
              <a:t>🌾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606040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AE60"/>
                </a:solidFill>
                <a:latin typeface="Calibri"/>
              </a:rPr>
              <a:t>Rural Constituencies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29718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Districts with &lt;30% urban population
Village-dominant, common in SC/ST reserved seats
Strong regional and single-party dominance
Lower turnout variation year on year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349240"/>
            <a:ext cx="13716000" cy="2212848"/>
          </a:xfrm>
          <a:prstGeom prst="rect">
            <a:avLst/>
          </a:prstGeom>
          <a:solidFill>
            <a:srgbClr val="F0F4F8"/>
          </a:solidFill>
          <a:ln w="15240">
            <a:solidFill>
              <a:srgbClr val="0077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57200" y="5349240"/>
            <a:ext cx="82296" cy="22128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5422392"/>
            <a:ext cx="1335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1A44"/>
                </a:solidFill>
                <a:latin typeface="Calibri"/>
              </a:rPr>
              <a:t>Real Examples from Census 2011: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58368" y="5806440"/>
            <a:ext cx="64008" cy="148132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2960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7CC"/>
                </a:solidFill>
                <a:latin typeface="Calibri"/>
              </a:rPr>
              <a:t>Delhi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97.5% urban urban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All 70 Vidhan Sabha constituencies tagged URBAN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212080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212080" y="5806440"/>
            <a:ext cx="64008" cy="14813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76672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Bihar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76672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11.3% urban urban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76672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Majority constituencies tagged RURAL-dominant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765792" y="5806440"/>
            <a:ext cx="4370832" cy="148132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765792" y="5806440"/>
            <a:ext cx="64008" cy="1481328"/>
          </a:xfrm>
          <a:prstGeom prst="rect">
            <a:avLst/>
          </a:prstGeom>
          <a:solidFill>
            <a:srgbClr val="276B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930384" y="5870448"/>
            <a:ext cx="41148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6BBF"/>
                </a:solidFill>
                <a:latin typeface="Calibri"/>
              </a:rPr>
              <a:t>Maharashtra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930384" y="6181344"/>
            <a:ext cx="4114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2230"/>
                </a:solidFill>
                <a:latin typeface="Calibri"/>
              </a:rPr>
              <a:t>45.2% urban urban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30384" y="6382512"/>
            <a:ext cx="4114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08096"/>
                </a:solidFill>
                <a:latin typeface="Calibri"/>
              </a:rPr>
              <a:t>→ Mix of Urban (Mumbai) + Rural (Vidarbha) + Semi-Urban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Team Responsibilities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Individual contributions and role assignments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53312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0A1A44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A1A44"/>
                </a:solidFill>
                <a:latin typeface="Calibri"/>
              </a:rPr>
              <a:t> K</a:t>
            </a:r>
            <a:endParaRPr sz="1400" b="1" i="0" dirty="0">
              <a:solidFill>
                <a:srgbClr val="0A1A44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 dirty="0">
                <a:solidFill>
                  <a:srgbClr val="FFFFFF"/>
                </a:solidFill>
                <a:latin typeface="Calibri"/>
              </a:rPr>
              <a:t>Team Lead</a:t>
            </a:r>
            <a:r>
              <a:rPr lang="en-IN" sz="900" b="1" i="0" dirty="0">
                <a:solidFill>
                  <a:srgbClr val="FFFFFF"/>
                </a:solidFill>
                <a:latin typeface="Calibri"/>
              </a:rPr>
              <a:t> &amp; 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30352" y="3026664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1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merged, dataset validated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" y="3465576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GitHub setup + maintenance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3904488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Power BI dashboard development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30352" y="4343400"/>
            <a:ext cx="73152" cy="73152"/>
          </a:xfrm>
          <a:prstGeom prst="rect">
            <a:avLst/>
          </a:prstGeom>
          <a:solidFill>
            <a:srgbClr val="0052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PPT + final report preparation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05656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Karishma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29000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82696" y="3026664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29000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10 states </a:t>
            </a:r>
            <a:r>
              <a:rPr lang="en-IN" sz="1000" b="0" i="0" dirty="0">
                <a:solidFill>
                  <a:srgbClr val="1A2230"/>
                </a:solidFill>
                <a:latin typeface="Calibri"/>
              </a:rPr>
              <a:t>-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VS completed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82696" y="3465576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429000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LS collection in progress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82696" y="3904488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429000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data cleaning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82696" y="4343400"/>
            <a:ext cx="73152" cy="73152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429000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Column mapping verification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07024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858000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98464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Vennela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181344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35040" y="3026664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81344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35040" y="3465576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81344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VS + LS data collection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3904488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181344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Bypoll for assigned states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35040" y="4343400"/>
            <a:ext cx="73152" cy="73152"/>
          </a:xfrm>
          <a:prstGeom prst="rect">
            <a:avLst/>
          </a:prstGeom>
          <a:solidFill>
            <a:srgbClr val="7A2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181344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230"/>
                </a:solidFill>
                <a:latin typeface="Calibri"/>
              </a:rPr>
              <a:t>State-level QC checks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59368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610344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50808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Aman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33688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 Analyst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787384" y="3026664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933688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1000" dirty="0">
                <a:solidFill>
                  <a:srgbClr val="1A2230"/>
                </a:solidFill>
                <a:latin typeface="Calibri"/>
              </a:rPr>
              <a:t>5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states assigned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87384" y="3465576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933688" y="3392424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Data formatting + cleaning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87384" y="3904488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933688" y="3831336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1A2230"/>
                </a:solidFill>
                <a:latin typeface="Calibri"/>
              </a:rPr>
              <a:t>Bypoll</a:t>
            </a:r>
            <a:r>
              <a:rPr sz="1000" b="0" i="0" dirty="0">
                <a:solidFill>
                  <a:srgbClr val="1A2230"/>
                </a:solidFill>
                <a:latin typeface="Calibri"/>
              </a:rPr>
              <a:t> data mapping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787384" y="4343400"/>
            <a:ext cx="73152" cy="73152"/>
          </a:xfrm>
          <a:prstGeom prst="rect">
            <a:avLst/>
          </a:prstGeom>
          <a:solidFill>
            <a:srgbClr val="B0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933688" y="4270248"/>
            <a:ext cx="22677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1A2230"/>
                </a:solidFill>
                <a:latin typeface="Calibri"/>
              </a:rPr>
              <a:t>Validation reports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1411712" y="1234440"/>
            <a:ext cx="2633472" cy="6309360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2362688" y="1399032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503152" y="2240280"/>
            <a:ext cx="245059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1A44"/>
                </a:solidFill>
                <a:latin typeface="Calibri"/>
              </a:rPr>
              <a:t>Gajavadan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1686032" y="2587752"/>
            <a:ext cx="208483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900" b="1" i="0" dirty="0">
                <a:solidFill>
                  <a:srgbClr val="FFFFFF"/>
                </a:solidFill>
                <a:latin typeface="Calibri"/>
              </a:rPr>
              <a:t>Data Analyst</a:t>
            </a:r>
            <a:endParaRPr sz="9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11539728" y="3026664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1686032" y="2953512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5 states assigned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1539728" y="3465576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1686032" y="3392424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Data formatting + cleaning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1539728" y="3904488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1686032" y="3831336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 err="1">
                <a:solidFill>
                  <a:srgbClr val="1A2230"/>
                </a:solidFill>
              </a:rPr>
              <a:t>Bypoll</a:t>
            </a:r>
            <a:r>
              <a:rPr lang="en-IN" sz="1000" dirty="0">
                <a:solidFill>
                  <a:srgbClr val="1A2230"/>
                </a:solidFill>
              </a:rPr>
              <a:t> data mapping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1539728" y="4343400"/>
            <a:ext cx="73152" cy="73152"/>
          </a:xfrm>
          <a:prstGeom prst="rect">
            <a:avLst/>
          </a:prstGeom>
          <a:solidFill>
            <a:srgbClr val="8A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1686032" y="4270248"/>
            <a:ext cx="22677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>
                <a:solidFill>
                  <a:srgbClr val="1A2230"/>
                </a:solidFill>
              </a:rPr>
              <a:t>Validation reports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4849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058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64008"/>
            <a:ext cx="11887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836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  <a:latin typeface="Calibri"/>
              </a:rPr>
              <a:t>Issues encountered and how the team resolved them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8001000"/>
            <a:ext cx="14630400" cy="2286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0" y="8001000"/>
            <a:ext cx="14630400" cy="9144"/>
          </a:xfrm>
          <a:prstGeom prst="rect">
            <a:avLst/>
          </a:prstGeom>
          <a:solidFill>
            <a:srgbClr val="D0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028431"/>
            <a:ext cx="12344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 dirty="0">
                <a:solidFill>
                  <a:srgbClr val="708096"/>
                </a:solidFill>
                <a:latin typeface="Calibri"/>
              </a:rPr>
              <a:t>ElectViz: Election Data Visualization for Media  ·  Infosys Springboard  ·  February 2026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234440"/>
            <a:ext cx="5074920" cy="384048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1280160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CHALLENGE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234440"/>
            <a:ext cx="8503920" cy="3840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06440" y="1280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49240" y="1234440"/>
            <a:ext cx="251460" cy="4927369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" y="1691640"/>
            <a:ext cx="5074920" cy="1389888"/>
          </a:xfrm>
          <a:prstGeom prst="rect">
            <a:avLst/>
          </a:prstGeom>
          <a:solidFill>
            <a:srgbClr val="FFF8E8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691640"/>
            <a:ext cx="64008" cy="138988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1728216"/>
            <a:ext cx="47548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 dirty="0">
                <a:solidFill>
                  <a:srgbClr val="F39C12"/>
                </a:solidFill>
                <a:latin typeface="Calibri"/>
              </a:rPr>
              <a:t> BIGGEST PAIN 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19659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Missing Lok Sabha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231343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7 states had no LS files in initial data package.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691640"/>
            <a:ext cx="8503920" cy="1389888"/>
          </a:xfrm>
          <a:prstGeom prst="rect">
            <a:avLst/>
          </a:prstGeom>
          <a:solidFill>
            <a:srgbClr val="F0F7FF"/>
          </a:solidFill>
          <a:ln w="1016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0" y="1691640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779008" y="1764792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Marked for Phase 2 sourcing from ECI portal; removed from demo dataset.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72968"/>
            <a:ext cx="5074920" cy="1389888"/>
          </a:xfrm>
          <a:prstGeom prst="rect">
            <a:avLst/>
          </a:prstGeom>
          <a:solidFill>
            <a:srgbClr val="FFFFFF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6928" y="32461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Data Format Inconsistencies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3593592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36 source files had different column names and encodings.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0" y="3172968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69280" y="3172968"/>
            <a:ext cx="64008" cy="13898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779008" y="3246120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Built global column mapping + 200+ party abbreviation dictionary applied across all files.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654296"/>
            <a:ext cx="5074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6928" y="47274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  <a:latin typeface="Calibri"/>
              </a:rPr>
              <a:t>Bypoll Dataset Delays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5074920"/>
            <a:ext cx="4754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230"/>
                </a:solidFill>
                <a:latin typeface="Calibri"/>
              </a:rPr>
              <a:t>Bypoll files stored separately; not integrated initially.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4654296"/>
            <a:ext cx="8503920" cy="1389888"/>
          </a:xfrm>
          <a:prstGeom prst="rect">
            <a:avLst/>
          </a:prstGeom>
          <a:solidFill>
            <a:srgbClr val="F0F4F8"/>
          </a:solidFill>
          <a:ln w="6350">
            <a:solidFill>
              <a:srgbClr val="D0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669280" y="4654295"/>
            <a:ext cx="64008" cy="1507513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779008" y="4727448"/>
            <a:ext cx="822960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2230"/>
                </a:solidFill>
                <a:latin typeface="Calibri"/>
              </a:rPr>
              <a:t>Created dedicated Bypoll CSV pipeline — 346 records now validated and integrated.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601200" cy="8229600"/>
          </a:xfrm>
          <a:prstGeom prst="rect">
            <a:avLst/>
          </a:prstGeom>
          <a:solidFill>
            <a:srgbClr val="0814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8961120" cy="8229600"/>
          </a:xfrm>
          <a:prstGeom prst="rect">
            <a:avLst/>
          </a:prstGeom>
          <a:solidFill>
            <a:srgbClr val="060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61120" y="0"/>
            <a:ext cx="54864" cy="8229600"/>
          </a:xfrm>
          <a:prstGeom prst="rect">
            <a:avLst/>
          </a:prstGeom>
          <a:solidFill>
            <a:srgbClr val="00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52560" y="0"/>
            <a:ext cx="54864" cy="8229600"/>
          </a:xfrm>
          <a:prstGeom prst="rect">
            <a:avLst/>
          </a:prstGeom>
          <a:solidFill>
            <a:srgbClr val="004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54864" cy="8229600"/>
          </a:xfrm>
          <a:prstGeom prst="rect">
            <a:avLst/>
          </a:prstGeom>
          <a:solidFill>
            <a:srgbClr val="003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235440" y="0"/>
            <a:ext cx="54864" cy="8229600"/>
          </a:xfrm>
          <a:prstGeom prst="rect">
            <a:avLst/>
          </a:prstGeom>
          <a:solidFill>
            <a:srgbClr val="0038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326880" y="0"/>
            <a:ext cx="54864" cy="8229600"/>
          </a:xfrm>
          <a:prstGeom prst="rect">
            <a:avLst/>
          </a:prstGeom>
          <a:solidFill>
            <a:srgbClr val="003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418320" y="0"/>
            <a:ext cx="54864" cy="8229600"/>
          </a:xfrm>
          <a:prstGeom prst="rect">
            <a:avLst/>
          </a:prstGeom>
          <a:solidFill>
            <a:srgbClr val="0030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9509760" y="0"/>
            <a:ext cx="54864" cy="8229600"/>
          </a:xfrm>
          <a:prstGeom prst="rect">
            <a:avLst/>
          </a:prstGeom>
          <a:solidFill>
            <a:srgbClr val="002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601200" y="0"/>
            <a:ext cx="54864" cy="8229600"/>
          </a:xfrm>
          <a:prstGeom prst="rect">
            <a:avLst/>
          </a:prstGeom>
          <a:solidFill>
            <a:srgbClr val="002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692640" y="0"/>
            <a:ext cx="4937760" cy="8229600"/>
          </a:xfrm>
          <a:prstGeom prst="rect">
            <a:avLst/>
          </a:prstGeom>
          <a:solidFill>
            <a:srgbClr val="0409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0" y="3200400"/>
            <a:ext cx="5943600" cy="5943600"/>
          </a:xfrm>
          <a:prstGeom prst="ellipse">
            <a:avLst/>
          </a:prstGeom>
          <a:solidFill>
            <a:srgbClr val="00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887200" y="3840480"/>
            <a:ext cx="5029200" cy="5029200"/>
          </a:xfrm>
          <a:prstGeom prst="ellipse">
            <a:avLst/>
          </a:prstGeom>
          <a:solidFill>
            <a:srgbClr val="00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435840" y="4480560"/>
            <a:ext cx="3840480" cy="3840480"/>
          </a:xfrm>
          <a:prstGeom prst="ellipse">
            <a:avLst/>
          </a:prstGeom>
          <a:solidFill>
            <a:srgbClr val="00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97280" y="320040"/>
            <a:ext cx="475488" cy="475488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02920" y="713232"/>
            <a:ext cx="292608" cy="292608"/>
          </a:xfrm>
          <a:prstGeom prst="ellipse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828800" y="228600"/>
            <a:ext cx="182880" cy="182880"/>
          </a:xfrm>
          <a:prstGeom prst="ellipse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0" y="0"/>
            <a:ext cx="14630400" cy="50292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6928" y="137160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  <a:latin typeface="Calibri"/>
              </a:rPr>
              <a:t>Thank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2359152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77CC"/>
                </a:solidFill>
                <a:latin typeface="Calibri"/>
              </a:rPr>
              <a:t>You!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401568"/>
            <a:ext cx="502920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66928" y="4114800"/>
            <a:ext cx="5943600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" y="4169663"/>
            <a:ext cx="583387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🎤   We'd love to answer your questions!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921240" y="1234440"/>
            <a:ext cx="4343400" cy="5120640"/>
          </a:xfrm>
          <a:prstGeom prst="rect">
            <a:avLst/>
          </a:prstGeom>
          <a:solidFill>
            <a:srgbClr val="061020"/>
          </a:solidFill>
          <a:ln w="12700">
            <a:solidFill>
              <a:srgbClr val="1022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921240" y="1234440"/>
            <a:ext cx="4343400" cy="4572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12680" y="1298448"/>
            <a:ext cx="4160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7CC"/>
                </a:solidFill>
                <a:latin typeface="Calibri"/>
              </a:rPr>
              <a:t>PRESENTED BY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12680" y="1691640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0012680" y="1691640"/>
            <a:ext cx="64008" cy="68580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168128" y="174650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0077CC"/>
                </a:solidFill>
                <a:latin typeface="Calibri"/>
              </a:rPr>
              <a:t>Hamiz</a:t>
            </a:r>
            <a:r>
              <a:rPr lang="en-IN" sz="1400" b="1" i="0" dirty="0">
                <a:solidFill>
                  <a:srgbClr val="0077CC"/>
                </a:solidFill>
                <a:latin typeface="Calibri"/>
              </a:rPr>
              <a:t> K</a:t>
            </a:r>
            <a:endParaRPr sz="1400" b="1" i="0" dirty="0">
              <a:solidFill>
                <a:srgbClr val="0077CC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168128" y="2075688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Team Lead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12680" y="2441448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012680" y="2441448"/>
            <a:ext cx="64008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168128" y="24963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7AE60"/>
                </a:solidFill>
                <a:latin typeface="Calibri"/>
              </a:rPr>
              <a:t>Karishma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68128" y="2825496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12680" y="3191256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0012680" y="3191256"/>
            <a:ext cx="64008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168128" y="32461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Calibri"/>
              </a:rPr>
              <a:t>Vennela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68128" y="3575304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012680" y="3941064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012680" y="3941064"/>
            <a:ext cx="64008" cy="685800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168128" y="39959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35400"/>
                </a:solidFill>
                <a:latin typeface="Calibri"/>
              </a:rPr>
              <a:t>Aman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68128" y="4325112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Data Analyst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12680" y="4690872"/>
            <a:ext cx="4160520" cy="685800"/>
          </a:xfrm>
          <a:prstGeom prst="rect">
            <a:avLst/>
          </a:prstGeom>
          <a:solidFill>
            <a:srgbClr val="081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10012680" y="4690872"/>
            <a:ext cx="64008" cy="685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10168128" y="474573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39C12"/>
                </a:solidFill>
                <a:latin typeface="Calibri"/>
              </a:rPr>
              <a:t>Gajavadan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68128" y="507492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890AA"/>
                </a:solidFill>
                <a:latin typeface="Calibri"/>
              </a:rPr>
              <a:t>Member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5833872"/>
            <a:ext cx="14630400" cy="2167128"/>
          </a:xfrm>
          <a:prstGeom prst="rect">
            <a:avLst/>
          </a:prstGeom>
          <a:solidFill>
            <a:srgbClr val="050B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0" y="5833872"/>
            <a:ext cx="1463040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66928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58368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📁  Master Dataset (36 States)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023360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114800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📊  Power BI Dashboard (5 Pages)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79792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571232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📄  Final PPT Report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936224" y="6473952"/>
            <a:ext cx="3291840" cy="502920"/>
          </a:xfrm>
          <a:prstGeom prst="rect">
            <a:avLst/>
          </a:prstGeom>
          <a:solidFill>
            <a:srgbClr val="081428"/>
          </a:solidFill>
          <a:ln w="6350">
            <a:solidFill>
              <a:srgbClr val="1226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027664" y="6510528"/>
            <a:ext cx="3154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C8E0"/>
                </a:solidFill>
                <a:latin typeface="Calibri"/>
              </a:rPr>
              <a:t>🗂️  GitHub Repository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8138160"/>
            <a:ext cx="14630400" cy="91440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11567160" y="182880"/>
            <a:ext cx="64008" cy="65836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1567160" y="800100"/>
            <a:ext cx="2880360" cy="41148"/>
          </a:xfrm>
          <a:prstGeom prst="rect">
            <a:avLst/>
          </a:prstGeom>
          <a:solidFill>
            <a:srgbClr val="007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1873</Words>
  <Application>Microsoft Office PowerPoint</Application>
  <PresentationFormat>Custom</PresentationFormat>
  <Paragraphs>428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Hamiz K</cp:lastModifiedBy>
  <cp:revision>32</cp:revision>
  <dcterms:created xsi:type="dcterms:W3CDTF">2013-01-27T09:14:16Z</dcterms:created>
  <dcterms:modified xsi:type="dcterms:W3CDTF">2026-03-05T12:01:23Z</dcterms:modified>
  <cp:category/>
</cp:coreProperties>
</file>